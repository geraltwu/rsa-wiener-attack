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Hello everyone. Our project studies Wiener’s small-private-exponent attack against RSA. Even with a 2048-bit modulus, can an attacker recover the private key using only the public values e and n when d is too small?</a:t>
            </a:r>
          </a:p>
          <a:p/>
          <a:p>
            <a:r>
              <a:t>Sources: PRESENTATION_SCRIPT_EN.md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When d satisfies the classical Wiener condition shown here, k/d is very close to e/n. Expanding e/n as a continued fraction and truncating its prefixes gives convergents whose denominators are candidate private exponents. This avoids enumerating every possible d.</a:t>
            </a:r>
          </a:p>
          <a:p/>
          <a:p>
            <a:r>
              <a:t>Sources: PRESENTATION_SCRIPT_EN.md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Both procedures generate similarly sized p and q, then calculate n and φ(n). Normal RSA fixes e=65537 and computes its modular inverse d. The weak generator chooses d near a requested fraction of the Wiener threshold, then computes e. Since d is coprime with φ(n), the resulting weak key remains a valid RSA key.</a:t>
            </a:r>
          </a:p>
          <a:p/>
          <a:p>
            <a:r>
              <a:t>Sources: PRESENTATION_SCRIPT_EN.md; CODE_EXPLANATION.md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attack receives only public e and n. It computes the continued fraction of e/n and treats each convergent’s numerator and denominator as k and candidate d. If e·d−1 is divisible by k, the algorithm derives a candidate φ(n), then p+q. Together with pq=n, this gives a quadratic equation. Its discriminant must be a perfect square to recover integer p and q. The algorithm returns only after exact checks confirm pq=n, φ=(p−1)(q−1), and e·d mod φ=1.</a:t>
            </a:r>
          </a:p>
          <a:p/>
          <a:p>
            <a:r>
              <a:t>Sources: PRESENTATION_SCRIPT_EN.md; CODE_EXPLANATION.md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Switch to a terminal at the project root and run python -B scripts/demo.py. Explain that both keys are generated live and have actual 2048-bit moduli. The weak key has d/T near 0.75. The reference private values are used only for final verification and are not passed to the attack. Point out the successful candidate, then follow the output through φ, p+q, the discriminant, p, q, and d. Finish with the successful decryption checks. The normal key uses e=65537 and returns None in this run.</a:t>
            </a:r>
          </a:p>
          <a:p/>
          <a:p>
            <a:r>
              <a:t>Sources: PRESENTATION_SCRIPT_EN.md; DEMO_GUIDE.md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plot fixes a 512-bit modulus and varies d/T with 30 trials per group. The red dashed line marks the classical boundary at d/T=1. Every tested key inside the boundary was recovered. In this dataset, the 1.25 and 1.5 groups also reached 30/30. At d/T=2.0, recovery fell to 25/30, then declined overall, though some samples beyond the boundary still succeeded. The right plot fixes d/T at 0.75 and compares attack time for 256-, 512-, 1024-, and 2048-bit moduli. Every group reached 30/30. Median runtime increased with bit length, reaching 4.23 ms at 2048 bits. Error bars show the measured minimum to maximum, and attack timing excludes key generation. The lower-right table compares weak and normal 2048-bit keys using the same attack function. The weak group had median d/T=0.75 and 30/30 recoveries; the normal group had median d/T about 2.578×10^462 and 0/30 recoveries. None means Wiener’s attack did not recover these samples. It is not a complete proof of RSA security against every attack.</a:t>
            </a:r>
          </a:p>
          <a:p/>
          <a:p>
            <a:r>
              <a:t>Sources: PRESENTATION_SCRIPT_EN.md; DEMO_GUIDE.md; results/raw/e1_d_ratio.csv; results/raw/e2_modulus_bits.csv; results/raw/weak_vs_normal.csv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core functions we declare as our own cover normal and weak RSA parameter generation, Wiener-bound estimation and exact checking, continued fractions and convergents, and complete Wiener candidate verification. Normal generation fixes e=65537. Weak generation chooses a small d, then derives e. Bound checks use integer arithmetic. The attack accepts only e and n and validates candidates through divisibility, perfect-square, and RSA invariant checks. Prime generation, gcd, modular inversion, and integer square root come from existing libraries or Python’s standard library.</a:t>
            </a:r>
          </a:p>
          <a:p/>
          <a:p>
            <a:r>
              <a:t>Sources: PRESENTATION_SCRIPT_EN.md; CODE_EXPLANATION.md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notesSlide" Target="../notesSlides/notesSlide5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800100" y="7810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BB5D1"/>
                </a:solidFill>
                <a:latin typeface="Aptos"/>
                <a:ea typeface="Aptos"/>
                <a:cs typeface="Aptos"/>
              </a:rPr>
              <a:t>INTRODUCTION TO CRYPTOGRAPHY  /  COURSE PROJECT</a:t>
            </a:r>
            <a:endParaRPr sz="1350" b="1">
              <a:solidFill>
                <a:srgbClr val="9BB5D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180975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RSA Wiener Attack</a:t>
            </a:r>
            <a:endParaRPr sz="51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00100" y="274320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defPPr>
            <a:lvl1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1pPr>
            <a:lvl2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2pPr>
            <a:lvl3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3pPr>
            <a:lvl4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4pPr>
            <a:lvl5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5pPr>
            <a:lvl6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6pPr>
            <a:lvl7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7pPr>
            <a:lvl8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8pPr>
            <a:lvl9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CE6F0"/>
                </a:solidFill>
                <a:latin typeface="Aptos"/>
                <a:ea typeface="Aptos"/>
                <a:cs typeface="Aptos"/>
              </a:rPr>
              <a:t>Exploiting Small Private Exponents</a:t>
            </a:r>
            <a:endParaRPr sz="2550" b="1">
              <a:solidFill>
                <a:srgbClr val="DCE6F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19150" y="3524250"/>
            <a:ext cx="1009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0D9E4"/>
                </a:solidFill>
                <a:latin typeface="Aptos"/>
                <a:ea typeface="Aptos"/>
                <a:cs typeface="Aptos"/>
              </a:rPr>
              <a:t>Continued Fractions, Key Recovery and Experimental Evaluation</a:t>
            </a:r>
            <a:endParaRPr sz="1875" b="0">
              <a:solidFill>
                <a:srgbClr val="D0D9E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19150" y="5829300"/>
            <a:ext cx="666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D0D9E4"/>
                </a:solidFill>
                <a:latin typeface="Aptos"/>
                <a:ea typeface="Aptos"/>
                <a:cs typeface="Aptos"/>
              </a:rPr>
              <a:t>Group members: </a:t>
            </a:r>
            <a:r>
              <a:rPr lang="en-US" altLang="zh-CN" sz="1575" b="0" dirty="0">
                <a:solidFill>
                  <a:srgbClr val="D0D9E4"/>
                </a:solidFill>
                <a:latin typeface="Aptos"/>
                <a:ea typeface="Aptos"/>
                <a:cs typeface="Aptos"/>
              </a:rPr>
              <a:t>Wu Ziyuan, Cai </a:t>
            </a:r>
            <a:r>
              <a:rPr lang="en-US" altLang="zh-CN" sz="1575" b="0" dirty="0" err="1">
                <a:solidFill>
                  <a:srgbClr val="D0D9E4"/>
                </a:solidFill>
                <a:latin typeface="Aptos"/>
                <a:ea typeface="Aptos"/>
                <a:cs typeface="Aptos"/>
              </a:rPr>
              <a:t>Bingyi</a:t>
            </a:r>
            <a:endParaRPr sz="1575" b="0" dirty="0">
              <a:solidFill>
                <a:srgbClr val="D0D9E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001250" y="582930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defPPr>
            <a:lvl1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1pPr>
            <a:lvl2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2pPr>
            <a:lvl3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3pPr>
            <a:lvl4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4pPr>
            <a:lvl5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5pPr>
            <a:lvl6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6pPr>
            <a:lvl7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7pPr>
            <a:lvl8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8pPr>
            <a:lvl9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0D9E4"/>
                </a:solidFill>
                <a:latin typeface="Aptos"/>
                <a:ea typeface="Aptos"/>
                <a:cs typeface="Aptos"/>
              </a:rPr>
              <a:t>2026-10-18</a:t>
            </a:r>
            <a:endParaRPr sz="1425" b="0">
              <a:solidFill>
                <a:srgbClr val="D0D9E4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Small Private Exponents and Wiener’s Attack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02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23900" y="12192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RSA key relation</a:t>
            </a:r>
            <a:endParaRPr sz="1500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23900" y="1562100"/>
            <a:ext cx="371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ed − kφ(n) = 1</a:t>
            </a:r>
            <a:endParaRPr sz="27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23900" y="23050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Classical sufficient bound for d</a:t>
            </a:r>
            <a:endParaRPr sz="13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5"/>
              <p:cNvSpPr>
                <a:spLocks noGrp="1"/>
              </p:cNvSpPr>
              <p:nvPr/>
            </p:nvSpPr>
            <p:spPr>
              <a:xfrm>
                <a:off x="723900" y="2678674"/>
                <a:ext cx="3714750" cy="5715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ctr">
                <a:normAutofit fontScale="87500" lnSpcReduction="20000"/>
              </a:bodyPr>
              <a:lstStyle>
                <a:def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3000" dirty="0">
                    <a:solidFill>
                      <a:srgbClr val="24569B"/>
                    </a:solidFill>
                  </a:rPr>
                  <a:t>d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en-US" sz="3000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3000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zh-CN" altLang="en-US" sz="3000" b="1" i="0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sSup>
                      <m:sSupPr>
                        <m:ctrlPr>
                          <a:rPr lang="zh-CN" altLang="en-US" b="1" i="1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b="1" i="1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f>
                          <m:fPr>
                            <m:ctrlPr>
                              <a:rPr lang="zh-CN" altLang="en-US" b="1" i="0" dirty="0">
                                <a:solidFill>
                                  <a:srgbClr val="24569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CN" altLang="en-US" b="1" i="0" dirty="0">
                                <a:solidFill>
                                  <a:srgbClr val="24569B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zh-CN" altLang="en-US" b="1" i="0" dirty="0">
                                <a:solidFill>
                                  <a:srgbClr val="24569B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den>
                        </m:f>
                      </m:sup>
                    </m:sSup>
                  </m:oMath>
                </a14:m>
                <a:endParaRPr sz="3000" dirty="0">
                  <a:solidFill>
                    <a:srgbClr val="24569B"/>
                  </a:solidFill>
                </a:endParaRPr>
              </a:p>
            </p:txBody>
          </p:sp>
        </mc:Choice>
        <mc:Fallback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2678674"/>
                <a:ext cx="3714750" cy="571500"/>
              </a:xfrm>
              <a:prstGeom prst="rect">
                <a:avLst/>
              </a:prstGeom>
              <a:blipFill rotWithShape="1">
                <a:blip r:embed="rId1"/>
                <a:stretch>
                  <a:fillRect t="-8043" b="43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/>
          <p:cNvSpPr>
            <a:spLocks noGrp="1"/>
          </p:cNvSpPr>
          <p:nvPr/>
        </p:nvSpPr>
        <p:spPr>
          <a:xfrm>
            <a:off x="723900" y="3278749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Under the theorem’s assumptions</a:t>
            </a:r>
            <a:endParaRPr sz="1275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371475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altLang="zh-CN" dirty="0"/>
              <a:t>k/d ≈ e/n</a:t>
            </a:r>
            <a:endParaRPr lang="en-US" altLang="zh-CN" dirty="0"/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4343400"/>
            <a:ext cx="3714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A small d </a:t>
            </a:r>
            <a:r>
              <a:rPr lang="en-US" sz="135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makes them become very close </a:t>
            </a:r>
            <a:endParaRPr sz="1350" b="0" dirty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086350" y="1219200"/>
            <a:ext cx="647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Continued fractions and convergents</a:t>
            </a:r>
            <a:endParaRPr sz="1500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10"/>
              <p:cNvSpPr>
                <a:spLocks noGrp="1"/>
              </p:cNvSpPr>
              <p:nvPr/>
            </p:nvSpPr>
            <p:spPr>
              <a:xfrm>
                <a:off x="5086350" y="1657350"/>
                <a:ext cx="6477000" cy="6858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ctr">
                <a:normAutofit fontScale="92500"/>
              </a:bodyPr>
              <a:lstStyle>
                <a:def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2100" b="1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2100" b="1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100" b="1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zh-CN" altLang="en-US" sz="2100" b="1" i="0" dirty="0">
                        <a:solidFill>
                          <a:srgbClr val="15253A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zh-CN" altLang="en-US" sz="2100" b="1" i="1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2100" b="1" i="1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zh-CN" altLang="en-US" sz="2100" b="1" i="1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100" b="1" i="1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zh-CN" altLang="en-US" sz="2100" b="1" i="0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+…+</m:t>
                            </m:r>
                            <m:f>
                              <m:fPr>
                                <m:ctrlPr>
                                  <a:rPr lang="zh-CN" altLang="en-US" sz="2100" b="1" i="0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2100" b="1" i="0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zh-CN" altLang="en-US" sz="2100" b="1" i="1" dirty="0">
                                        <a:solidFill>
                                          <a:srgbClr val="1525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100" b="1" i="1" dirty="0">
                                        <a:solidFill>
                                          <a:srgbClr val="1525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sz="2100" b="1" i="1" dirty="0">
                                        <a:solidFill>
                                          <a:srgbClr val="1525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den>
                            </m:f>
                          </m:den>
                        </m:f>
                      </m:den>
                    </m:f>
                  </m:oMath>
                </a14:m>
                <a:endParaRPr sz="2100" b="1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350" y="1657350"/>
                <a:ext cx="6477000" cy="685800"/>
              </a:xfrm>
              <a:prstGeom prst="rect">
                <a:avLst/>
              </a:prstGeom>
              <a:blipFill rotWithShape="1">
                <a:blip r:embed="rId2"/>
                <a:stretch>
                  <a:fillRect t="-6667" b="-6852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/>
          <p:cNvSpPr>
            <a:spLocks noGrp="1"/>
          </p:cNvSpPr>
          <p:nvPr/>
        </p:nvSpPr>
        <p:spPr>
          <a:xfrm>
            <a:off x="5086350" y="2524125"/>
            <a:ext cx="647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x = [a₀; a₁, a₂, …, aₙ]</a:t>
            </a:r>
            <a:endParaRPr sz="23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086350" y="3276600"/>
            <a:ext cx="647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725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Expand e/n and truncate each prefix to obtain candidates</a:t>
            </a:r>
            <a:r>
              <a:rPr lang="en-US" sz="1725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kᵢ/dᵢ.</a:t>
            </a:r>
            <a:endParaRPr sz="1725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086350" y="3876675"/>
            <a:ext cx="647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725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Each denominator dᵢ is a candidate private exponent to verify</a:t>
            </a:r>
            <a:endParaRPr sz="1725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23900" y="4976353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87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Continued fractions reduce an exhaustive search over d to a small set of convergent candidates.</a:t>
            </a:r>
            <a:endParaRPr sz="187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23900" y="5898126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>
            <a:def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lang="en-US" sz="1875" b="1" dirty="0">
                <a:solidFill>
                  <a:schemeClr val="tx1"/>
                </a:solidFill>
                <a:latin typeface="Aptos"/>
                <a:ea typeface="Aptos"/>
                <a:cs typeface="Aptos"/>
              </a:rPr>
              <a:t>To evaluate this vulnerability, we generate both normal RSA keys and valid RSA keys whose private exponent is intentionally small.</a:t>
            </a:r>
            <a:endParaRPr lang="en-US" sz="1875" b="1" dirty="0">
              <a:solidFill>
                <a:schemeClr val="tx1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endParaRPr lang="en-US" sz="187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直接箭头连接符 25"/>
          <p:cNvCxnSpPr>
            <a:stCxn id="15" idx="2"/>
            <a:endCxn id="16" idx="0"/>
          </p:cNvCxnSpPr>
          <p:nvPr/>
        </p:nvCxnSpPr>
        <p:spPr>
          <a:xfrm>
            <a:off x="8943975" y="46767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5" name="直接箭头连接符 24"/>
          <p:cNvCxnSpPr>
            <a:stCxn id="14" idx="2"/>
            <a:endCxn id="15" idx="0"/>
          </p:cNvCxnSpPr>
          <p:nvPr/>
        </p:nvCxnSpPr>
        <p:spPr>
          <a:xfrm>
            <a:off x="8943975" y="40290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4" name="直接箭头连接符 23"/>
          <p:cNvCxnSpPr>
            <a:stCxn id="13" idx="2"/>
            <a:endCxn id="14" idx="0"/>
          </p:cNvCxnSpPr>
          <p:nvPr/>
        </p:nvCxnSpPr>
        <p:spPr>
          <a:xfrm>
            <a:off x="8943975" y="33813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3" name="直接箭头连接符 22"/>
          <p:cNvCxnSpPr>
            <a:stCxn id="12" idx="2"/>
            <a:endCxn id="13" idx="0"/>
          </p:cNvCxnSpPr>
          <p:nvPr/>
        </p:nvCxnSpPr>
        <p:spPr>
          <a:xfrm>
            <a:off x="8943975" y="27336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2" name="直接箭头连接符 21"/>
          <p:cNvCxnSpPr>
            <a:stCxn id="11" idx="2"/>
            <a:endCxn id="12" idx="0"/>
          </p:cNvCxnSpPr>
          <p:nvPr/>
        </p:nvCxnSpPr>
        <p:spPr>
          <a:xfrm>
            <a:off x="8943975" y="20859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1" name="直接箭头连接符 20"/>
          <p:cNvCxnSpPr>
            <a:stCxn id="9" idx="2"/>
            <a:endCxn id="10" idx="0"/>
          </p:cNvCxnSpPr>
          <p:nvPr/>
        </p:nvCxnSpPr>
        <p:spPr>
          <a:xfrm>
            <a:off x="3248025" y="46767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0" name="直接箭头连接符 19"/>
          <p:cNvCxnSpPr>
            <a:stCxn id="8" idx="2"/>
            <a:endCxn id="9" idx="0"/>
          </p:cNvCxnSpPr>
          <p:nvPr/>
        </p:nvCxnSpPr>
        <p:spPr>
          <a:xfrm>
            <a:off x="3248025" y="40290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9" name="直接箭头连接符 18"/>
          <p:cNvCxnSpPr>
            <a:stCxn id="7" idx="2"/>
            <a:endCxn id="8" idx="0"/>
          </p:cNvCxnSpPr>
          <p:nvPr/>
        </p:nvCxnSpPr>
        <p:spPr>
          <a:xfrm>
            <a:off x="3248025" y="33813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8" name="直接箭头连接符 17"/>
          <p:cNvCxnSpPr>
            <a:stCxn id="6" idx="2"/>
            <a:endCxn id="7" idx="0"/>
          </p:cNvCxnSpPr>
          <p:nvPr/>
        </p:nvCxnSpPr>
        <p:spPr>
          <a:xfrm>
            <a:off x="3248025" y="27336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7" name="直接箭头连接符 16"/>
          <p:cNvCxnSpPr>
            <a:stCxn id="5" idx="2"/>
            <a:endCxn id="6" idx="0"/>
          </p:cNvCxnSpPr>
          <p:nvPr/>
        </p:nvCxnSpPr>
        <p:spPr>
          <a:xfrm>
            <a:off x="3248025" y="20859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sp>
        <p:nvSpPr>
          <p:cNvPr id="28" name="矩形 27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Normal RSA and Weak RSA Construction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03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23900" y="1095375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Normal RSA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19850" y="1095375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Wiener-weak RSA</a:t>
            </a:r>
            <a:endParaRPr sz="1800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1028700" y="15621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Generate distinct primes p and q of similar size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1028700" y="22098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n = p·q    φ(n) = (p−1)(q−1)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1028700" y="28575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Choose the common public exponent e = 65537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1028700" y="35052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Check that gcd(e, φ(n)) = 1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1028700" y="41529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Compute d = e⁻¹ mod φ(n)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1028700" y="48006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EAF1FA"/>
          </a:solidFill>
          <a:ln w="19050">
            <a:solidFill>
              <a:srgbClr val="356FC0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Return a valid normal RSA key</a:t>
            </a:r>
            <a:endParaRPr sz="14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6724650" y="15621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Generate distinct primes p and q of similar size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724650" y="22098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n = p·q    φ(n) = (p−1)(q−1)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矩形: 圆角 12"/>
              <p:cNvSpPr>
                <a:spLocks noGrp="1"/>
              </p:cNvSpPr>
              <p:nvPr/>
            </p:nvSpPr>
            <p:spPr>
              <a:xfrm>
                <a:off x="6724650" y="2857500"/>
                <a:ext cx="443865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13335">
                <a:solidFill>
                  <a:srgbClr val="CAD4DF"/>
                </a:solidFill>
                <a:prstDash val="solid"/>
              </a:ln>
            </p:spPr>
            <p:txBody>
              <a:bodyPr wrap="square" lIns="114300" tIns="47625" rIns="114300" bIns="47625" anchor="ctr"/>
              <a:lstStyle>
                <a:def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sz="1400" b="0" dirty="0">
                    <a:solidFill>
                      <a:schemeClr val="tx1"/>
                    </a:solidFill>
                    <a:latin typeface="Aptos"/>
                    <a:ea typeface="Aptos"/>
                    <a:cs typeface="Aptos"/>
                  </a:rPr>
                  <a:t>Estimate the Wiener threshold T ≈ </a:t>
                </a:r>
                <a:r>
                  <a:rPr lang="en-US" altLang="zh-CN" sz="16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en-US" sz="16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zh-CN" altLang="en-US" sz="1600" b="1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sSup>
                      <m:sSupPr>
                        <m:ctrlPr>
                          <a:rPr lang="zh-CN" alt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f>
                          <m:fPr>
                            <m:ctrlPr>
                              <a:rPr lang="zh-CN" altLang="en-US" sz="1600" b="1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CN" altLang="en-US" sz="1600" b="1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zh-CN" altLang="en-US" sz="1600" b="1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den>
                        </m:f>
                      </m:sup>
                    </m:sSup>
                  </m:oMath>
                </a14:m>
                <a:endParaRPr lang="zh-CN" altLang="en-US" sz="1600" b="1" i="0" dirty="0">
                  <a:solidFill>
                    <a:schemeClr val="tx1"/>
                  </a:solidFill>
                  <a:latin typeface="Cambria Math" panose="02040503050406030204" pitchFamily="18" charset="0"/>
                  <a:ea typeface="Aptos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矩形: 圆角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650" y="2857500"/>
                <a:ext cx="4438650" cy="523875"/>
              </a:xfrm>
              <a:prstGeom prst="roundRect">
                <a:avLst>
                  <a:gd name="adj" fmla="val 14545"/>
                </a:avLst>
              </a:prstGeom>
              <a:blipFill rotWithShape="1">
                <a:blip r:embed="rId1"/>
                <a:stretch>
                  <a:fillRect l="-157" t="-1333" r="-143" b="-1212"/>
                </a:stretch>
              </a:blipFill>
              <a:ln w="13335">
                <a:solidFill>
                  <a:srgbClr val="CAD4D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矩形: 圆角 13"/>
          <p:cNvSpPr>
            <a:spLocks noGrp="1"/>
          </p:cNvSpPr>
          <p:nvPr/>
        </p:nvSpPr>
        <p:spPr>
          <a:xfrm>
            <a:off x="6724650" y="35052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Set target d ≈ ratio·T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724650" y="41529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Find a nearby odd d coprime with φ(n)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6724650" y="48006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EAF1FA"/>
          </a:solidFill>
          <a:ln w="19050">
            <a:solidFill>
              <a:srgbClr val="356FC0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Compute e = d⁻¹ mod φ(n), then verify RSA relations</a:t>
            </a:r>
            <a:endParaRPr sz="14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463040" y="5381625"/>
            <a:ext cx="356997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Normal RSA</a:t>
            </a:r>
            <a:r>
              <a:rPr lang="en-US"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: </a:t>
            </a: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fixes e, then derives d.</a:t>
            </a:r>
            <a:endParaRPr sz="157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887345" y="5972175"/>
            <a:ext cx="641731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Both satisfy RSA relations; the intended difference is the size of d.</a:t>
            </a:r>
            <a:endParaRPr sz="157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932254" y="5381625"/>
            <a:ext cx="4259621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Weak RSA</a:t>
            </a:r>
            <a:r>
              <a:rPr lang="en-US"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: </a:t>
            </a: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chooses a small d, then derives e. </a:t>
            </a:r>
            <a:endParaRPr lang="en-US" sz="157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694045" y="1559560"/>
            <a:ext cx="803910" cy="5245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/>
              <a:t>=</a:t>
            </a:r>
            <a:endParaRPr lang="en-US" altLang="zh-CN" sz="2800"/>
          </a:p>
        </p:txBody>
      </p:sp>
      <p:sp>
        <p:nvSpPr>
          <p:cNvPr id="31" name="文本框 30"/>
          <p:cNvSpPr txBox="1"/>
          <p:nvPr/>
        </p:nvSpPr>
        <p:spPr>
          <a:xfrm>
            <a:off x="5694045" y="2224405"/>
            <a:ext cx="803910" cy="5245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/>
              <a:t>=</a:t>
            </a:r>
            <a:endParaRPr lang="en-US" altLang="zh-CN"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箭头连接符 16"/>
          <p:cNvCxnSpPr>
            <a:stCxn id="9" idx="1"/>
            <a:endCxn id="10" idx="3"/>
          </p:cNvCxnSpPr>
          <p:nvPr/>
        </p:nvCxnSpPr>
        <p:spPr>
          <a:xfrm flipH="1">
            <a:off x="3181350" y="4752975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6" name="直接箭头连接符 15"/>
          <p:cNvCxnSpPr>
            <a:stCxn id="8" idx="1"/>
            <a:endCxn id="9" idx="3"/>
          </p:cNvCxnSpPr>
          <p:nvPr/>
        </p:nvCxnSpPr>
        <p:spPr>
          <a:xfrm flipH="1">
            <a:off x="5981700" y="4752975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5" name="直接箭头连接符 14"/>
          <p:cNvCxnSpPr>
            <a:stCxn id="7" idx="1"/>
            <a:endCxn id="8" idx="3"/>
          </p:cNvCxnSpPr>
          <p:nvPr/>
        </p:nvCxnSpPr>
        <p:spPr>
          <a:xfrm flipH="1">
            <a:off x="8782050" y="4752975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4" name="直接箭头连接符 13"/>
          <p:cNvCxnSpPr>
            <a:stCxn id="6" idx="2"/>
            <a:endCxn id="7" idx="0"/>
          </p:cNvCxnSpPr>
          <p:nvPr/>
        </p:nvCxnSpPr>
        <p:spPr>
          <a:xfrm>
            <a:off x="10344150" y="3076575"/>
            <a:ext cx="0" cy="885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3" name="直接箭头连接符 12"/>
          <p:cNvCxnSpPr>
            <a:stCxn id="5" idx="3"/>
            <a:endCxn id="6" idx="1"/>
          </p:cNvCxnSpPr>
          <p:nvPr/>
        </p:nvCxnSpPr>
        <p:spPr>
          <a:xfrm>
            <a:off x="8782050" y="2286000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2" name="直接箭头连接符 11"/>
          <p:cNvCxnSpPr>
            <a:stCxn id="4" idx="3"/>
            <a:endCxn id="5" idx="1"/>
          </p:cNvCxnSpPr>
          <p:nvPr/>
        </p:nvCxnSpPr>
        <p:spPr>
          <a:xfrm>
            <a:off x="5981700" y="2286000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1" name="直接箭头连接符 10"/>
          <p:cNvCxnSpPr>
            <a:stCxn id="3" idx="3"/>
            <a:endCxn id="4" idx="1"/>
          </p:cNvCxnSpPr>
          <p:nvPr/>
        </p:nvCxnSpPr>
        <p:spPr>
          <a:xfrm>
            <a:off x="3181350" y="2286000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sp>
        <p:nvSpPr>
          <p:cNvPr id="19" name="矩形 18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Wiener Attack Candidate Recovery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04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: 圆角 2"/>
          <p:cNvSpPr>
            <a:spLocks noGrp="1"/>
          </p:cNvSpPr>
          <p:nvPr/>
        </p:nvSpPr>
        <p:spPr>
          <a:xfrm>
            <a:off x="704850" y="1495425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Public input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 and 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True d, p, q and φ are unknown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3505200" y="1495425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Expand e/n as a continued fraction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and generate convergents kᵢ/dᵢ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305550" y="1495425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Check each candidate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kᵢ ≠ 0 and kᵢ | (edᵢ − 1)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(check if </a:t>
            </a:r>
            <a:r>
              <a:rPr sz="1800" dirty="0">
                <a:sym typeface="+mn-ea"/>
              </a:rPr>
              <a:t>φᵢ</a:t>
            </a:r>
            <a:r>
              <a:rPr lang="en-US" sz="1800" dirty="0">
                <a:sym typeface="+mn-ea"/>
              </a:rPr>
              <a:t> is integer</a:t>
            </a:r>
            <a:r>
              <a:rPr lang="en-US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</a:t>
            </a:r>
            <a:endParaRPr lang="en-US"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: 圆角 5"/>
              <p:cNvSpPr>
                <a:spLocks noGrp="1"/>
              </p:cNvSpPr>
              <p:nvPr/>
            </p:nvSpPr>
            <p:spPr>
              <a:xfrm>
                <a:off x="9105900" y="1495425"/>
                <a:ext cx="2476500" cy="1581150"/>
              </a:xfrm>
              <a:prstGeom prst="roundRect">
                <a:avLst>
                  <a:gd name="adj" fmla="val 4819"/>
                </a:avLst>
              </a:prstGeom>
              <a:solidFill>
                <a:srgbClr val="FFFFFF"/>
              </a:solidFill>
              <a:ln w="13335">
                <a:solidFill>
                  <a:srgbClr val="CAD4DF"/>
                </a:solidFill>
                <a:prstDash val="solid"/>
              </a:ln>
            </p:spPr>
            <p:txBody>
              <a:bodyPr wrap="square" lIns="114300" tIns="47625" rIns="114300" bIns="47625" anchor="ctr">
                <a:normAutofit/>
              </a:bodyPr>
              <a:lstStyle>
                <a:def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Derive candidate φᵢ</a:t>
                </a:r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800" b="0" i="1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800" b="0" i="1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zh-CN" altLang="en-US" sz="1800" b="0" i="1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en-US" sz="1800" b="0" i="0" dirty="0">
                          <a:solidFill>
                            <a:srgbClr val="15253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e</m:t>
                          </m:r>
                          <m:sSub>
                            <m:sSubPr>
                              <m:ctrlPr>
                                <a:rPr lang="zh-CN" altLang="en-US" sz="1800" b="0" i="0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800" b="0" i="0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zh-CN" altLang="en-US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CN" altLang="en-US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800" b="0" dirty="0" err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p+q</a:t>
                </a:r>
                <a:r>
                  <a:rPr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=n−φᵢ+1</a:t>
                </a:r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6" name="矩形: 圆角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900" y="1495425"/>
                <a:ext cx="2476500" cy="1581150"/>
              </a:xfrm>
              <a:prstGeom prst="roundRect">
                <a:avLst>
                  <a:gd name="adj" fmla="val 4819"/>
                </a:avLst>
              </a:prstGeom>
              <a:blipFill rotWithShape="1">
                <a:blip r:embed="rId1"/>
                <a:stretch>
                  <a:fillRect l="-282" t="-442" r="-256" b="-402"/>
                </a:stretch>
              </a:blipFill>
              <a:ln w="13335">
                <a:solidFill>
                  <a:srgbClr val="CAD4D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圆角 6"/>
          <p:cNvSpPr>
            <a:spLocks noGrp="1"/>
          </p:cNvSpPr>
          <p:nvPr/>
        </p:nvSpPr>
        <p:spPr>
          <a:xfrm>
            <a:off x="9105900" y="3962400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Build the quadratic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altLang="zh-CN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(x−p)(x−q)=0</a:t>
            </a:r>
            <a:endParaRPr lang="en-US" altLang="zh-CN"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x²−(</a:t>
            </a:r>
            <a:r>
              <a:rPr sz="180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p+q</a:t>
            </a: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</a:t>
            </a:r>
            <a:r>
              <a:rPr sz="180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x+n</a:t>
            </a: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=0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Δ=(</a:t>
            </a:r>
            <a:r>
              <a:rPr sz="180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p+q</a:t>
            </a: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)²−4n</a:t>
            </a:r>
            <a:r>
              <a:rPr lang="en-US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=</a:t>
            </a:r>
            <a:r>
              <a:rPr lang="en-US" altLang="zh-CN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(p-q)²</a:t>
            </a:r>
            <a:endParaRPr lang="en-US" altLang="zh-CN"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: 圆角 7"/>
              <p:cNvSpPr>
                <a:spLocks noGrp="1"/>
              </p:cNvSpPr>
              <p:nvPr/>
            </p:nvSpPr>
            <p:spPr>
              <a:xfrm>
                <a:off x="6305550" y="3962400"/>
                <a:ext cx="2476500" cy="1581150"/>
              </a:xfrm>
              <a:prstGeom prst="roundRect">
                <a:avLst>
                  <a:gd name="adj" fmla="val 4819"/>
                </a:avLst>
              </a:prstGeom>
              <a:solidFill>
                <a:srgbClr val="FFFFFF"/>
              </a:solidFill>
              <a:ln w="13335">
                <a:solidFill>
                  <a:srgbClr val="CAD4DF"/>
                </a:solidFill>
                <a:prstDash val="solid"/>
              </a:ln>
            </p:spPr>
            <p:txBody>
              <a:bodyPr wrap="square" lIns="114300" tIns="47625" rIns="114300" bIns="47625" anchor="ctr">
                <a:normAutofit/>
              </a:bodyPr>
              <a:lstStyle>
                <a:def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If</a:t>
                </a:r>
                <a:r>
                  <a:rPr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 Δ ≥ 0 and a perfect square</a:t>
                </a:r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p=((p+q)+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1800" b="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altLang="zh-CN" sz="1800" b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  <m:t>Δ</m:t>
                        </m:r>
                      </m:e>
                    </m:rad>
                  </m:oMath>
                </a14:m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) / 2</a:t>
                </a:r>
                <a:endParaRPr lang="en-US" altLang="zh-CN"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q=((p+q)−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1800" b="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altLang="zh-CN" sz="1800" b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  <m:t>Δ</m:t>
                        </m:r>
                      </m:e>
                    </m:rad>
                  </m:oMath>
                </a14:m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) / 2</a:t>
                </a:r>
                <a:endParaRPr lang="en-US" altLang="zh-CN"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8" name="矩形: 圆角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962400"/>
                <a:ext cx="2476500" cy="1581150"/>
              </a:xfrm>
              <a:prstGeom prst="roundRect">
                <a:avLst>
                  <a:gd name="adj" fmla="val 4819"/>
                </a:avLst>
              </a:prstGeom>
              <a:blipFill rotWithShape="1">
                <a:blip r:embed="rId2"/>
                <a:stretch>
                  <a:fillRect l="-282" t="-442" r="-256" b="-402"/>
                </a:stretch>
              </a:blipFill>
              <a:ln w="13335">
                <a:solidFill>
                  <a:srgbClr val="CAD4D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: 圆角 8"/>
          <p:cNvSpPr>
            <a:spLocks noGrp="1"/>
          </p:cNvSpPr>
          <p:nvPr/>
        </p:nvSpPr>
        <p:spPr>
          <a:xfrm>
            <a:off x="3505200" y="3962400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Recover p and q from the roots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Check p,q&gt;1, pq=n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and φᵢ=(p−1)(q−1)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704850" y="3962400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EAF1FA"/>
          </a:solidFill>
          <a:ln w="19050">
            <a:solidFill>
              <a:srgbClr val="356FC0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Verify edᵢ mod φᵢ = 1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Return dᵢ, p, q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Otherwise continue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2950" y="5838825"/>
            <a:ext cx="1057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lang="en-US" sz="160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If any check fails, the algorithm continues with the next convergent</a:t>
            </a:r>
            <a:r>
              <a:rPr sz="160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. The attack accepts only public e and n.</a:t>
            </a:r>
            <a:endParaRPr sz="1600" b="0" dirty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Live Demo: 2048-bit Weak and Normal RSA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05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38200" y="142875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01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447800" y="142875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Generate two 2048-bit RSA keys live: one weak and one normal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38200" y="220980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02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447800" y="220980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Pass only the public values e and n to the attack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38200" y="299085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03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1447800" y="299085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Recover d, φ(n), p and q from the weak key, then verify decryption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38200" y="377190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04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447800" y="377190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Run the identical attack against the normal RSA key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Experimental Results and Analysis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06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3300" y="840658"/>
            <a:ext cx="4343400" cy="271462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353300" y="3602908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E3  ·  2048-bit key comparison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7353300" y="3907708"/>
          <a:ext cx="4343400" cy="1047750"/>
        </p:xfrm>
        <a:graphic>
          <a:graphicData uri="http://schemas.openxmlformats.org/drawingml/2006/table">
            <a:tbl>
              <a:tblPr firstRow="1" bandRow="1"/>
              <a:tblGrid>
                <a:gridCol w="1276350"/>
                <a:gridCol w="1571625"/>
                <a:gridCol w="1495425"/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type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>
                      <a:solidFill>
                        <a:srgbClr val="CAD4DF"/>
                      </a:solidFill>
                      <a:prstDash val="soli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>
                      <a:solidFill>
                        <a:srgbClr val="CAD4DF"/>
                      </a:solidFill>
                      <a:prstDash val="soli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10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Median d/T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>
                      <a:solidFill>
                        <a:srgbClr val="CAD4DF"/>
                      </a:solidFill>
                      <a:prstDash val="soli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10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Recovered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>
                      <a:solidFill>
                        <a:srgbClr val="CAD4DF"/>
                      </a:solidFill>
                      <a:prstDash val="soli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102238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Weak RSA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>
                      <a:solidFill>
                        <a:srgbClr val="CAD4DF"/>
                      </a:solidFill>
                      <a:prstDash val="soli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1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0.75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1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30/30</a:t>
                      </a:r>
                      <a:endParaRPr sz="1275" b="1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1F6FC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Normal RSA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>
                      <a:solidFill>
                        <a:srgbClr val="CAD4DF"/>
                      </a:solidFill>
                      <a:prstDash val="soli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2.578 × 10⁴⁶²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0/30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514350" y="5241208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1</a:t>
            </a:r>
            <a:endParaRPr sz="1725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5241208"/>
            <a:ext cx="31242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1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At d/T ≤ 1.0, all 30 keys were recovered; the 1.5 group also reached 30/30.</a:t>
            </a:r>
            <a:endParaRPr sz="131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305300" y="5241208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2</a:t>
            </a:r>
            <a:endParaRPr sz="1725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705350" y="5241208"/>
            <a:ext cx="31242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>
            <a:def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1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At d/T = 2.0, recovery fell to 25/30 and declined further at larger ratios.</a:t>
            </a:r>
            <a:r>
              <a:rPr lang="en-US" sz="131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</a:t>
            </a:r>
            <a:endParaRPr lang="en-US" sz="131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31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Success remained possible, but no longer guaranteed.</a:t>
            </a:r>
            <a:endParaRPr lang="en-US" sz="131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096250" y="5241208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3</a:t>
            </a:r>
            <a:endParaRPr sz="1725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496300" y="5241208"/>
            <a:ext cx="31242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>
            <a:def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1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All 2048-bit weak keys were recovered; median attack time was 4.23 </a:t>
            </a:r>
            <a:r>
              <a:rPr sz="1315" b="1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ms.</a:t>
            </a:r>
            <a:r>
              <a:rPr lang="en-US" sz="131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</a:t>
            </a:r>
            <a:endParaRPr lang="en-US" sz="131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31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Increasing n to 2048 bits did not remove the vulnerability when d remained too small.</a:t>
            </a:r>
            <a:endParaRPr lang="en-US" sz="131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l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endParaRPr sz="131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52450" y="6229350"/>
            <a:ext cx="1028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9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E1: </a:t>
            </a:r>
            <a:r>
              <a:rPr lang="en-US" sz="109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2048</a:t>
            </a:r>
            <a:r>
              <a:rPr sz="109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-bit n, 30 trials/group. E2: d/T=0.75; error bars show min to max. Attack timing excludes key generation.</a:t>
            </a:r>
            <a:endParaRPr sz="109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" name="图片 14" descr="wiener_success_vs_d_rat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" y="955675"/>
            <a:ext cx="6399530" cy="39998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Self-Implemented Core Functions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07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23900" y="1181100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RSA parameter construction</a:t>
            </a:r>
            <a:endParaRPr sz="157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23900" y="15621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generate_normal_rsa()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23900" y="1819275"/>
            <a:ext cx="5048250" cy="3905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Fix e=65537; sample distinct </a:t>
            </a:r>
            <a:r>
              <a:rPr lang="en-US" sz="135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p,q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and check n’s bit length; require </a:t>
            </a:r>
            <a:r>
              <a:rPr lang="en-US" sz="135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gcd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(e,</a:t>
            </a:r>
            <a:r>
              <a:rPr lang="el-GR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φ)=1, 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then derive d=e⁻¹ mod </a:t>
            </a:r>
            <a:r>
              <a:rPr lang="el-GR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φ.</a:t>
            </a:r>
            <a:endParaRPr lang="el-GR"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23900" y="2219328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24569B"/>
                </a:solidFill>
                <a:latin typeface="Aptos"/>
                <a:ea typeface="Aptos"/>
                <a:cs typeface="Aptos"/>
              </a:rPr>
              <a:t>generate_weak_rsa</a:t>
            </a:r>
            <a:r>
              <a:rPr sz="142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()</a:t>
            </a:r>
            <a:endParaRPr sz="142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>
                <a:spLocks noGrp="1"/>
              </p:cNvSpPr>
              <p:nvPr/>
            </p:nvSpPr>
            <p:spPr>
              <a:xfrm>
                <a:off x="723900" y="2437175"/>
                <a:ext cx="5048250" cy="31432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>
                <a:def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Chooses a small d from target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en-US" sz="1350" b="0" i="1" dirty="0" smtClean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en-US" sz="1350" b="0" i="1" dirty="0" smtClean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zh-CN" altLang="en-US" sz="1350" b="0" i="1" dirty="0" smtClean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, then derives </a:t>
                </a:r>
                <a:r>
                  <a:rPr lang="en-US" altLang="zh-CN" dirty="0"/>
                  <a:t>e=d⁻¹ mod </a:t>
                </a:r>
                <a:r>
                  <a:rPr lang="el-GR" altLang="zh-CN" dirty="0"/>
                  <a:t>φ.</a:t>
                </a: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.</a:t>
                </a:r>
                <a:endParaRPr sz="135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2437175"/>
                <a:ext cx="5048250" cy="314325"/>
              </a:xfrm>
              <a:prstGeom prst="rect">
                <a:avLst/>
              </a:prstGeom>
              <a:blipFill rotWithShape="1">
                <a:blip r:embed="rId1"/>
                <a:stretch>
                  <a:fillRect t="-14" b="14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>
            <a:spLocks noGrp="1"/>
          </p:cNvSpPr>
          <p:nvPr/>
        </p:nvSpPr>
        <p:spPr>
          <a:xfrm>
            <a:off x="723900" y="27051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_nearest_odd_coprime()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2962275"/>
            <a:ext cx="5048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Searches near the target for a valid odd d coprime with φ.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dirty="0"/>
              <a:t>(</a:t>
            </a:r>
            <a:r>
              <a:rPr lang="en-US" altLang="zh-CN" dirty="0"/>
              <a:t>accept only 1&lt;d&lt;φ and </a:t>
            </a:r>
            <a:r>
              <a:rPr lang="en-US" altLang="zh-CN" dirty="0" err="1"/>
              <a:t>gcd</a:t>
            </a:r>
            <a:r>
              <a:rPr lang="en-US" altLang="zh-CN" dirty="0"/>
              <a:t>(</a:t>
            </a:r>
            <a:r>
              <a:rPr lang="en-US" altLang="zh-CN" dirty="0" err="1"/>
              <a:t>d,φ</a:t>
            </a:r>
            <a:r>
              <a:rPr lang="en-US" altLang="zh-CN" dirty="0"/>
              <a:t>)=1)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23900" y="3543300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Wiener-bound checks</a:t>
            </a:r>
            <a:endParaRPr sz="157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23900" y="39243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24569B"/>
                </a:solidFill>
                <a:latin typeface="Aptos"/>
                <a:ea typeface="Aptos"/>
                <a:cs typeface="Aptos"/>
              </a:rPr>
              <a:t>approximate_wiener_threshold</a:t>
            </a:r>
            <a:r>
              <a:rPr sz="142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()</a:t>
            </a:r>
            <a:endParaRPr sz="142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矩形 11"/>
              <p:cNvSpPr>
                <a:spLocks noGrp="1"/>
              </p:cNvSpPr>
              <p:nvPr/>
            </p:nvSpPr>
            <p:spPr>
              <a:xfrm>
                <a:off x="723900" y="4102817"/>
                <a:ext cx="5048250" cy="5715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 fontScale="92500" lnSpcReduction="10000"/>
              </a:bodyPr>
              <a:lstStyle>
                <a:def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Uses two integer square roots to approximate</a:t>
                </a:r>
                <a:r>
                  <a:rPr lang="en-US" altLang="zh-CN" sz="1400" dirty="0">
                    <a:solidFill>
                      <a:srgbClr val="24569B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altLang="zh-CN" sz="14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zh-CN" altLang="ar-AE" sz="1400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ar-AE" sz="1400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f>
                              <m:fPr>
                                <m:ctrlPr>
                                  <a:rPr lang="zh-CN" altLang="ar-AE" sz="1400" b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ar-AE" sz="1400" b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num>
                              <m:den>
                                <m:r>
                                  <a:rPr lang="zh-CN" altLang="ar-AE" sz="1400" b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</m:den>
                            </m:f>
                          </m:sup>
                        </m:sSup>
                      </m:num>
                      <m:den>
                        <m:r>
                          <a:rPr lang="zh-CN" altLang="ar-AE" sz="1400" b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</m:oMath>
                </a14:m>
                <a:endParaRPr lang="ar-AE" altLang="zh-CN" sz="1400" dirty="0">
                  <a:solidFill>
                    <a:srgbClr val="24569B"/>
                  </a:solidFill>
                </a:endParaRPr>
              </a:p>
              <a:p>
                <a: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.</a:t>
                </a:r>
                <a:endParaRPr sz="135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12" name="矩形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4102817"/>
                <a:ext cx="5048250" cy="571500"/>
              </a:xfrm>
              <a:prstGeom prst="rect">
                <a:avLst/>
              </a:prstGeom>
              <a:blipFill rotWithShape="1">
                <a:blip r:embed="rId2"/>
                <a:stretch>
                  <a:fillRect t="-1792" b="14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/>
          <p:cNvSpPr>
            <a:spLocks noGrp="1"/>
          </p:cNvSpPr>
          <p:nvPr/>
        </p:nvSpPr>
        <p:spPr>
          <a:xfrm>
            <a:off x="723900" y="44958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is_below_wiener_bound()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23900" y="4752975"/>
            <a:ext cx="5048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Tests the classical bound exactly with 81d⁴ &lt; n.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419850" y="1181100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Continued fractions and attack verification</a:t>
            </a:r>
            <a:endParaRPr sz="157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419850" y="15621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continued_fraction()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19850" y="1819275"/>
            <a:ext cx="5048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Computes continued-fraction coefficients by Euclidean division.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19850" y="2173028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24569B"/>
                </a:solidFill>
                <a:latin typeface="Aptos"/>
                <a:ea typeface="Aptos"/>
                <a:cs typeface="Aptos"/>
              </a:rPr>
              <a:t>convergents</a:t>
            </a:r>
            <a:r>
              <a:rPr sz="142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()</a:t>
            </a:r>
            <a:endParaRPr sz="142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19850" y="2430203"/>
            <a:ext cx="5048250" cy="7334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Evaluate each continued-fraction prefix to produce candidate k/d pairs for Wiener’s search.</a:t>
            </a:r>
            <a:endParaRPr lang="en-US"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419850" y="29718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wiener_attack()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419850" y="3228975"/>
            <a:ext cx="5048250" cy="7810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Uses only e and n to search candidates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(accept only public (</a:t>
            </a:r>
            <a:r>
              <a:rPr lang="en-US" sz="135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e,n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))</a:t>
            </a: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, recover and verify d, p, q.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23900" y="5715000"/>
            <a:ext cx="1057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Prime generation, gcd, modular inverse and isqrt use existing libraries or Python standard-library functions.</a:t>
            </a:r>
            <a:endParaRPr sz="1275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wiener-candidate-validation-detail"/>
              <p:cNvSpPr>
                <a:spLocks noGrp="1"/>
              </p:cNvSpPr>
              <p:nvPr/>
            </p:nvSpPr>
            <p:spPr>
              <a:xfrm>
                <a:off x="6419850" y="3625406"/>
                <a:ext cx="5048250" cy="119062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>
                <a:def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Candidate checks: k≠0 and k|(ed−1); set </a:t>
                </a:r>
                <a14:m>
                  <m:oMath xmlns:m="http://schemas.openxmlformats.org/officeDocument/2006/math">
                    <m:r>
                      <a:rPr lang="zh-CN" altLang="en-US" sz="1240" i="1" dirty="0" smtClean="0">
                        <a:solidFill>
                          <a:srgbClr val="15253A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zh-CN" altLang="en-US" sz="1240" i="0" dirty="0">
                        <a:solidFill>
                          <a:srgbClr val="15253A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ⅇ</m:t>
                        </m:r>
                        <m:r>
                          <a:rPr lang="zh-CN" altLang="en-US" sz="124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zh-CN" altLang="en-US" sz="124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 and S=n−φ+1. Require Δ=S²−4n to be a nonnegative perfect square and S±√Δ to be even; recover </a:t>
                </a:r>
                <a:r>
                  <a:rPr sz="1240" dirty="0" err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p,q</a:t>
                </a:r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, then verify </a:t>
                </a:r>
                <a:r>
                  <a:rPr sz="1240" dirty="0" err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pq</a:t>
                </a:r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=n, φ=(p−1)(q−1), and ed≡1 (mod φ).</a:t>
                </a:r>
                <a:endParaRPr sz="124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27" name="wiener-candidate-validation-detai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9850" y="3625406"/>
                <a:ext cx="5048250" cy="1190625"/>
              </a:xfrm>
              <a:prstGeom prst="rect">
                <a:avLst/>
              </a:prstGeom>
              <a:blipFill rotWithShape="1">
                <a:blip r:embed="rId3"/>
                <a:stretch>
                  <a:fillRect t="-16" b="16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2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3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4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5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6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7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8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4277</Words>
  <Application>WPS 演示</Application>
  <PresentationFormat>宽屏</PresentationFormat>
  <Paragraphs>233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0" baseType="lpstr">
      <vt:lpstr>Arial</vt:lpstr>
      <vt:lpstr>宋体</vt:lpstr>
      <vt:lpstr>Wingdings</vt:lpstr>
      <vt:lpstr>Aptos</vt:lpstr>
      <vt:lpstr>Segoe UI</vt:lpstr>
      <vt:lpstr>Cambria Math</vt:lpstr>
      <vt:lpstr>微软雅黑</vt:lpstr>
      <vt:lpstr>Cascadia Mono</vt:lpstr>
      <vt:lpstr>Arial Unicode MS</vt:lpstr>
      <vt:lpstr>Calibri</vt:lpstr>
      <vt:lpstr>Aptos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孜然</cp:lastModifiedBy>
  <cp:revision>34</cp:revision>
  <dcterms:created xsi:type="dcterms:W3CDTF">2026-10-18T02:55:00Z</dcterms:created>
  <dcterms:modified xsi:type="dcterms:W3CDTF">2026-10-18T15:24:05Z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9A0063CC029C4379A3B6A8FC2B08EAA5_12</vt:lpwstr>
  </property>
</Properties>
</file>