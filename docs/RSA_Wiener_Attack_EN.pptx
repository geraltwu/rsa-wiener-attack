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Hello everyone. Our project studies Wiener’s small-private-exponent attack against RSA. Even with a 2048-bit modulus, can an attacker recover the private key using only the public values e and n when d is too small?</a:t>
            </a:r>
          </a:p>
          <a:p/>
          <a:p>
            <a:r>
              <a:t>Sources: PRESENTATION_SCRIPT_EN.md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d satisfies the classical Wiener condition shown here, k/d is very close to e/n. Expanding e/n as a continued fraction and truncating its prefixes gives convergents whose denominators are candidate private exponents. This avoids enumerating every possible d.</a:t>
            </a:r>
          </a:p>
          <a:p/>
          <a:p>
            <a:r>
              <a:t>Sources: PRESENTATION_SCRIPT_EN.md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procedures generate similarly sized p and q, then calculate n and φ(n). Normal RSA fixes e=65537 and computes its modular inverse d. The weak generator chooses d near a requested fraction of the Wiener threshold, then computes e. Since d is coprime with φ(n), the resulting weak key remains a valid RSA key.</a:t>
            </a:r>
          </a:p>
          <a:p/>
          <a:p>
            <a:r>
              <a:t>Sources: PRESENTATION_SCRIPT_EN.md; CODE_EXPLANATION.md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attack receives only public e and n. It computes the continued fraction of e/n and treats each convergent’s numerator and denominator as k and candidate d. If e·d−1 is divisible by k, the algorithm derives a candidate φ(n), then p+q. Together with pq=n, this gives a quadratic equation. Its discriminant must be a perfect square to recover integer p and q. The algorithm returns only after exact checks confirm pq=n, φ=(p−1)(q−1), and e·d mod φ=1.</a:t>
            </a:r>
          </a:p>
          <a:p/>
          <a:p>
            <a:r>
              <a:t>Sources: PRESENTATION_SCRIPT_EN.md; CODE_EXPLANATION.md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762000" y="1513840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RSA Wiener Attack</a:t>
            </a:r>
            <a:endParaRPr sz="5100" b="1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244729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2550" b="1">
                <a:solidFill>
                  <a:srgbClr val="DCE6F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chemeClr val="accent1"/>
                </a:solidFill>
                <a:latin typeface="Aptos"/>
                <a:ea typeface="Aptos"/>
                <a:cs typeface="Aptos"/>
              </a:rPr>
              <a:t>Exploiting Small Private Exponents</a:t>
            </a:r>
            <a:endParaRPr sz="2550" b="1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3228340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chemeClr val="tx1"/>
                </a:solidFill>
                <a:latin typeface="Aptos"/>
                <a:ea typeface="Aptos"/>
                <a:cs typeface="Aptos"/>
              </a:rPr>
              <a:t>Continued Fractions, Key Recovery and Experimental Evaluation</a:t>
            </a:r>
            <a:endParaRPr sz="1875" b="0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553339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Group members: </a:t>
            </a:r>
            <a:r>
              <a:rPr lang="en-US" altLang="zh-CN" sz="1575" b="0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Wu Ziyuan, Cai </a:t>
            </a:r>
            <a:r>
              <a:rPr lang="en-US" altLang="zh-CN" sz="1575" b="0" dirty="0" err="1">
                <a:solidFill>
                  <a:schemeClr val="tx1"/>
                </a:solidFill>
                <a:latin typeface="Aptos"/>
                <a:ea typeface="Aptos"/>
                <a:cs typeface="Aptos"/>
              </a:rPr>
              <a:t>Bingyi</a:t>
            </a:r>
            <a:endParaRPr lang="en-US" altLang="zh-CN" sz="1575" b="0" dirty="0" err="1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01250" y="553339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defPPr>
            <a:lvl1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1pPr>
            <a:lvl2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2pPr>
            <a:lvl3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3pPr>
            <a:lvl4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4pPr>
            <a:lvl5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5pPr>
            <a:lvl6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6pPr>
            <a:lvl7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7pPr>
            <a:lvl8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8pPr>
            <a:lvl9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425" b="0">
                <a:solidFill>
                  <a:srgbClr val="D0D9E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chemeClr val="tx1"/>
                </a:solidFill>
                <a:latin typeface="Aptos"/>
                <a:ea typeface="Aptos"/>
                <a:cs typeface="Aptos"/>
              </a:rPr>
              <a:t>2026-10-1</a:t>
            </a:r>
            <a:r>
              <a:rPr lang="en-US" sz="1425" b="0">
                <a:solidFill>
                  <a:schemeClr val="tx1"/>
                </a:solidFill>
                <a:latin typeface="Aptos"/>
                <a:ea typeface="Aptos"/>
                <a:cs typeface="Aptos"/>
              </a:rPr>
              <a:t>9</a:t>
            </a:r>
            <a:endParaRPr lang="en-US" sz="1425" b="0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Grp="1"/>
          </p:cNvSpPr>
          <p:nvPr/>
        </p:nvSpPr>
        <p:spPr>
          <a:xfrm>
            <a:off x="609600" y="361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Small Private Exponents and Wiener’s Attack</a:t>
            </a:r>
            <a:endParaRPr sz="322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01350" y="64389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02 / 07</a:t>
            </a:r>
            <a:endParaRPr sz="10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2192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RSA key relation</a:t>
            </a:r>
            <a:endParaRPr sz="1500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5621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27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ed − kφ(n) = 1</a:t>
            </a:r>
            <a:endParaRPr sz="27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3050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Classical sufficient bound for d</a:t>
            </a:r>
            <a:endParaRPr sz="13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>
                <a:spLocks noGrp="1"/>
              </p:cNvSpPr>
              <p:nvPr/>
            </p:nvSpPr>
            <p:spPr>
              <a:xfrm>
                <a:off x="723900" y="2678674"/>
                <a:ext cx="371475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 fontScale="87500" lnSpcReduction="20000"/>
              </a:bodyPr>
              <a:lstStyle>
                <a:def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defPPr>
                <a:lvl1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1pPr>
                <a:lvl2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2pPr>
                <a:lvl3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3pPr>
                <a:lvl4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4pPr>
                <a:lvl5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5pPr>
                <a:lvl6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6pPr>
                <a:lvl7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7pPr>
                <a:lvl8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8pPr>
                <a:lvl9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 algn="ctr">
                  <a:defRPr sz="3000" b="1">
                    <a:solidFill>
                      <a:srgbClr val="24569B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3000" dirty="0">
                    <a:solidFill>
                      <a:srgbClr val="24569B"/>
                    </a:solidFill>
                  </a:rPr>
                  <a:t>d &lt;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3000" dirty="0">
                            <a:solidFill>
                              <a:srgbClr val="24569B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dirty="0">
                            <a:solidFill>
                              <a:srgbClr val="24569B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zh-CN" altLang="en-US" sz="3000" b="1" i="0" dirty="0">
                            <a:solidFill>
                              <a:srgbClr val="24569B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sSup>
                      <m:sSupPr>
                        <m:ctrlPr>
                          <a:rPr lang="zh-CN" altLang="en-US" b="1" i="1" dirty="0">
                            <a:solidFill>
                              <a:srgbClr val="24569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 dirty="0">
                            <a:solidFill>
                              <a:srgbClr val="24569B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>
                          <m:fPr>
                            <m:ctrlPr>
                              <a:rPr lang="zh-CN" altLang="en-US" b="1" i="0" dirty="0">
                                <a:solidFill>
                                  <a:srgbClr val="24569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b="1" i="0" dirty="0">
                                <a:solidFill>
                                  <a:srgbClr val="24569B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zh-CN" altLang="en-US" b="1" i="0" dirty="0">
                                <a:solidFill>
                                  <a:srgbClr val="24569B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sup>
                    </m:sSup>
                  </m:oMath>
                </a14:m>
                <a:endParaRPr sz="3000" dirty="0">
                  <a:solidFill>
                    <a:srgbClr val="24569B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678674"/>
                <a:ext cx="3714750" cy="571500"/>
              </a:xfrm>
              <a:prstGeom prst="rect">
                <a:avLst/>
              </a:prstGeom>
              <a:blipFill rotWithShape="1">
                <a:blip r:embed="rId1"/>
                <a:stretch>
                  <a:fillRect t="-8043" b="4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>
            <a:spLocks noGrp="1"/>
          </p:cNvSpPr>
          <p:nvPr/>
        </p:nvSpPr>
        <p:spPr>
          <a:xfrm>
            <a:off x="723900" y="3278749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27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Under the theorem’s assumptions</a:t>
            </a:r>
            <a:endParaRPr sz="1275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3714750"/>
            <a:ext cx="371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85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lang="en-US" altLang="zh-CN" dirty="0"/>
              <a:t>k/d ≈ e/n</a:t>
            </a:r>
            <a:endParaRPr lang="en-US" altLang="zh-CN" dirty="0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43434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5D6B7C"/>
                </a:solidFill>
                <a:latin typeface="Aptos"/>
                <a:ea typeface="Aptos"/>
                <a:cs typeface="Aptos"/>
              </a:rPr>
              <a:t>A small d </a:t>
            </a:r>
            <a:r>
              <a:rPr lang="en-US" sz="1350" b="0" dirty="0">
                <a:solidFill>
                  <a:srgbClr val="5D6B7C"/>
                </a:solidFill>
                <a:latin typeface="Aptos"/>
                <a:ea typeface="Aptos"/>
                <a:cs typeface="Aptos"/>
              </a:rPr>
              <a:t>makes them become very close </a:t>
            </a:r>
            <a:endParaRPr sz="1350" b="0" dirty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086350" y="1219200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Continued fractions and convergents</a:t>
            </a:r>
            <a:endParaRPr sz="1500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>
                <a:spLocks noGrp="1"/>
              </p:cNvSpPr>
              <p:nvPr/>
            </p:nvSpPr>
            <p:spPr>
              <a:xfrm>
                <a:off x="5086350" y="1657350"/>
                <a:ext cx="6477000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rmAutofit fontScale="92500"/>
              </a:bodyPr>
              <a:lstStyle>
                <a:def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 algn="l">
                  <a:defRPr sz="2100" b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2100" b="1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x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100" b="1" i="1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100" b="1" i="1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100" b="1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100" b="1" i="0" dirty="0">
                        <a:solidFill>
                          <a:srgbClr val="15253A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en-US" sz="2100" b="1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100" b="1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zh-CN" altLang="en-US" sz="2100" b="1" i="1" dirty="0">
                                <a:solidFill>
                                  <a:srgbClr val="1525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100" b="1" i="1" dirty="0">
                                <a:solidFill>
                                  <a:srgbClr val="15253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2100" b="1" i="0" dirty="0">
                                <a:solidFill>
                                  <a:srgbClr val="15253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100" b="1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100" b="1" i="0" dirty="0">
                                <a:solidFill>
                                  <a:srgbClr val="15253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100" b="1" i="0" dirty="0">
                                <a:solidFill>
                                  <a:srgbClr val="15253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en-US" sz="2100" b="1" i="1" dirty="0">
                                    <a:solidFill>
                                      <a:srgbClr val="15253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100" b="1" i="1" dirty="0">
                                    <a:solidFill>
                                      <a:srgbClr val="15253A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100" b="1" i="0" dirty="0">
                                    <a:solidFill>
                                      <a:srgbClr val="15253A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altLang="en-US" sz="2100" b="1" i="0" dirty="0">
                                <a:solidFill>
                                  <a:srgbClr val="15253A"/>
                                </a:solidFill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f>
                              <m:fPr>
                                <m:ctrlPr>
                                  <a:rPr lang="zh-CN" altLang="en-US" sz="2100" b="1" i="0" dirty="0">
                                    <a:solidFill>
                                      <a:srgbClr val="15253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2100" b="1" i="0" dirty="0">
                                    <a:solidFill>
                                      <a:srgbClr val="15253A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zh-CN" altLang="en-US" sz="2100" b="1" i="1" dirty="0">
                                        <a:solidFill>
                                          <a:srgbClr val="15253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100" b="1" i="1" dirty="0">
                                        <a:solidFill>
                                          <a:srgbClr val="15253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zh-CN" altLang="en-US" sz="2100" b="1" i="1" dirty="0">
                                        <a:solidFill>
                                          <a:srgbClr val="15253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den>
                        </m:f>
                      </m:den>
                    </m:f>
                  </m:oMath>
                </a14:m>
                <a:endParaRPr sz="2100" b="1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50" y="1657350"/>
                <a:ext cx="6477000" cy="685800"/>
              </a:xfrm>
              <a:prstGeom prst="rect">
                <a:avLst/>
              </a:prstGeom>
              <a:blipFill rotWithShape="1">
                <a:blip r:embed="rId2"/>
                <a:stretch>
                  <a:fillRect t="-6667" b="-6852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>
            <a:spLocks noGrp="1"/>
          </p:cNvSpPr>
          <p:nvPr/>
        </p:nvSpPr>
        <p:spPr>
          <a:xfrm>
            <a:off x="5086350" y="2524125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23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x = [a₀; a₁, a₂, …, aₙ]</a:t>
            </a:r>
            <a:endParaRPr sz="23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086350" y="3276600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Expand e/n and truncate each prefix to obtain candidates</a:t>
            </a:r>
            <a:r>
              <a:rPr lang="en-US" sz="1725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kᵢ/dᵢ.</a:t>
            </a:r>
            <a:endParaRPr sz="1725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086350" y="3876675"/>
            <a:ext cx="6477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72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725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Each denominator dᵢ is a candidate private exponent to verify</a:t>
            </a:r>
            <a:endParaRPr sz="1725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4976353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875" b="1" dirty="0">
                <a:solidFill>
                  <a:srgbClr val="24569B"/>
                </a:solidFill>
                <a:latin typeface="Aptos"/>
                <a:ea typeface="Aptos"/>
                <a:cs typeface="Aptos"/>
              </a:rPr>
              <a:t>Continued fractions reduce an exhaustive search over d to a small set of convergent candidates.</a:t>
            </a:r>
            <a:endParaRPr sz="1875" b="1" dirty="0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5898126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>
            <a:def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lang="en-US" sz="1875" b="1" dirty="0">
                <a:solidFill>
                  <a:schemeClr val="tx1"/>
                </a:solidFill>
                <a:latin typeface="Aptos"/>
                <a:ea typeface="Aptos"/>
                <a:cs typeface="Aptos"/>
              </a:rPr>
              <a:t>To evaluate this vulnerability, we generate both normal RSA keys and valid RSA keys whose private exponent is intentionally small.</a:t>
            </a:r>
            <a:endParaRPr lang="en-US" sz="1875" b="1" dirty="0">
              <a:solidFill>
                <a:schemeClr val="tx1"/>
              </a:solidFill>
              <a:latin typeface="Aptos"/>
              <a:ea typeface="Aptos"/>
              <a:cs typeface="Aptos"/>
            </a:endParaRPr>
          </a:p>
          <a:p>
            <a:pPr algn="l">
              <a:defRPr sz="187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endParaRPr lang="en-US" sz="1875" b="1" dirty="0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箭头连接符 25"/>
          <p:cNvCxnSpPr>
            <a:stCxn id="15" idx="2"/>
            <a:endCxn id="16" idx="0"/>
          </p:cNvCxnSpPr>
          <p:nvPr/>
        </p:nvCxnSpPr>
        <p:spPr>
          <a:xfrm>
            <a:off x="8943975" y="46767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25" name="直接箭头连接符 24"/>
          <p:cNvCxnSpPr>
            <a:stCxn id="14" idx="2"/>
            <a:endCxn id="15" idx="0"/>
          </p:cNvCxnSpPr>
          <p:nvPr/>
        </p:nvCxnSpPr>
        <p:spPr>
          <a:xfrm>
            <a:off x="8943975" y="40290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24" name="直接箭头连接符 23"/>
          <p:cNvCxnSpPr>
            <a:stCxn id="13" idx="2"/>
            <a:endCxn id="14" idx="0"/>
          </p:cNvCxnSpPr>
          <p:nvPr/>
        </p:nvCxnSpPr>
        <p:spPr>
          <a:xfrm>
            <a:off x="8943975" y="33813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23" name="直接箭头连接符 22"/>
          <p:cNvCxnSpPr>
            <a:stCxn id="12" idx="2"/>
            <a:endCxn id="13" idx="0"/>
          </p:cNvCxnSpPr>
          <p:nvPr/>
        </p:nvCxnSpPr>
        <p:spPr>
          <a:xfrm>
            <a:off x="8943975" y="27336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22" name="直接箭头连接符 21"/>
          <p:cNvCxnSpPr>
            <a:stCxn id="11" idx="2"/>
            <a:endCxn id="12" idx="0"/>
          </p:cNvCxnSpPr>
          <p:nvPr/>
        </p:nvCxnSpPr>
        <p:spPr>
          <a:xfrm>
            <a:off x="8943975" y="20859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21" name="直接箭头连接符 20"/>
          <p:cNvCxnSpPr>
            <a:stCxn id="9" idx="2"/>
            <a:endCxn id="10" idx="0"/>
          </p:cNvCxnSpPr>
          <p:nvPr/>
        </p:nvCxnSpPr>
        <p:spPr>
          <a:xfrm>
            <a:off x="3248025" y="46767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20" name="直接箭头连接符 19"/>
          <p:cNvCxnSpPr>
            <a:stCxn id="8" idx="2"/>
            <a:endCxn id="9" idx="0"/>
          </p:cNvCxnSpPr>
          <p:nvPr/>
        </p:nvCxnSpPr>
        <p:spPr>
          <a:xfrm>
            <a:off x="3248025" y="40290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9" name="直接箭头连接符 18"/>
          <p:cNvCxnSpPr>
            <a:stCxn id="7" idx="2"/>
            <a:endCxn id="8" idx="0"/>
          </p:cNvCxnSpPr>
          <p:nvPr/>
        </p:nvCxnSpPr>
        <p:spPr>
          <a:xfrm>
            <a:off x="3248025" y="33813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8" name="直接箭头连接符 17"/>
          <p:cNvCxnSpPr>
            <a:stCxn id="6" idx="2"/>
            <a:endCxn id="7" idx="0"/>
          </p:cNvCxnSpPr>
          <p:nvPr/>
        </p:nvCxnSpPr>
        <p:spPr>
          <a:xfrm>
            <a:off x="3248025" y="27336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7" name="直接箭头连接符 16"/>
          <p:cNvCxnSpPr>
            <a:stCxn id="5" idx="2"/>
            <a:endCxn id="6" idx="0"/>
          </p:cNvCxnSpPr>
          <p:nvPr/>
        </p:nvCxnSpPr>
        <p:spPr>
          <a:xfrm>
            <a:off x="3248025" y="2085975"/>
            <a:ext cx="0" cy="123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sp>
        <p:nvSpPr>
          <p:cNvPr id="28" name="矩形 27"/>
          <p:cNvSpPr>
            <a:spLocks noGrp="1"/>
          </p:cNvSpPr>
          <p:nvPr/>
        </p:nvSpPr>
        <p:spPr>
          <a:xfrm>
            <a:off x="609600" y="361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Normal RSA and Weak RSA Construction</a:t>
            </a:r>
            <a:endParaRPr sz="322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01350" y="64389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03 / 07</a:t>
            </a:r>
            <a:endParaRPr sz="10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09537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80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Normal RSA</a:t>
            </a:r>
            <a:endParaRPr sz="18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19850" y="1095375"/>
            <a:ext cx="504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800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Wiener-weak RSA</a:t>
            </a:r>
            <a:endParaRPr sz="1800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>
            <a:off x="1028700" y="15621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Generate distinct primes p and q of similar size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: 圆角 5"/>
          <p:cNvSpPr>
            <a:spLocks noGrp="1"/>
          </p:cNvSpPr>
          <p:nvPr/>
        </p:nvSpPr>
        <p:spPr>
          <a:xfrm>
            <a:off x="1028700" y="22098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n = p·q    φ(n) = (p−1)(q−1)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1028700" y="28575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Choose the common public exponent e = 65537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1028700" y="35052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Check that gcd(e, φ(n)) = 1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1028700" y="41529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Compute d = e⁻¹ mod φ(n)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1028700" y="48006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EAF1FA"/>
          </a:solidFill>
          <a:ln w="19050">
            <a:solidFill>
              <a:srgbClr val="356FC0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Return a valid normal RSA key</a:t>
            </a:r>
            <a:endParaRPr sz="14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6724650" y="15621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Generate distinct primes p and q of similar size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: 圆角 11"/>
          <p:cNvSpPr>
            <a:spLocks noGrp="1"/>
          </p:cNvSpPr>
          <p:nvPr/>
        </p:nvSpPr>
        <p:spPr>
          <a:xfrm>
            <a:off x="6724650" y="22098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n = p·q    φ(n) = (p−1)(q−1)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: 圆角 12"/>
              <p:cNvSpPr>
                <a:spLocks noGrp="1"/>
              </p:cNvSpPr>
              <p:nvPr/>
            </p:nvSpPr>
            <p:spPr>
              <a:xfrm>
                <a:off x="6724650" y="2857500"/>
                <a:ext cx="44386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FFFFFF"/>
              </a:solidFill>
              <a:ln w="13335">
                <a:solidFill>
                  <a:srgbClr val="CAD4DF"/>
                </a:solidFill>
                <a:prstDash val="solid"/>
              </a:ln>
            </p:spPr>
            <p:txBody>
              <a:bodyPr wrap="square" lIns="114300" tIns="47625" rIns="114300" bIns="47625" anchor="ctr"/>
              <a:lstStyle>
                <a:def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ctr"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>
                  <a:defRPr sz="139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400" b="0" dirty="0">
                    <a:solidFill>
                      <a:schemeClr val="tx1"/>
                    </a:solidFill>
                    <a:latin typeface="Aptos"/>
                    <a:ea typeface="Aptos"/>
                    <a:cs typeface="Aptos"/>
                  </a:rPr>
                  <a:t>Estimate the Wiener threshold T ≈ 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zh-CN" altLang="en-US" sz="1600" b="1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sSup>
                      <m:sSupPr>
                        <m:ctrlPr>
                          <a:rPr lang="zh-CN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f>
                          <m:fPr>
                            <m:ctrlPr>
                              <a:rPr lang="zh-CN" altLang="en-US" sz="1600" b="1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600" b="1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zh-CN" altLang="en-US" sz="1600" b="1" i="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sup>
                    </m:sSup>
                  </m:oMath>
                </a14:m>
                <a:endParaRPr lang="zh-CN" altLang="en-US" sz="1600" b="1" i="0" dirty="0">
                  <a:solidFill>
                    <a:schemeClr val="tx1"/>
                  </a:solidFill>
                  <a:latin typeface="Cambria Math" panose="02040503050406030204" pitchFamily="18" charset="0"/>
                  <a:ea typeface="Aptos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3" name="矩形: 圆角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650" y="2857500"/>
                <a:ext cx="4438650" cy="523875"/>
              </a:xfrm>
              <a:prstGeom prst="roundRect">
                <a:avLst>
                  <a:gd name="adj" fmla="val 14545"/>
                </a:avLst>
              </a:prstGeom>
              <a:blipFill rotWithShape="1">
                <a:blip r:embed="rId1"/>
                <a:stretch>
                  <a:fillRect l="-157" t="-1333" r="-143" b="-1212"/>
                </a:stretch>
              </a:blipFill>
              <a:ln w="13335">
                <a:solidFill>
                  <a:srgbClr val="CAD4D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: 圆角 13"/>
          <p:cNvSpPr>
            <a:spLocks noGrp="1"/>
          </p:cNvSpPr>
          <p:nvPr/>
        </p:nvSpPr>
        <p:spPr>
          <a:xfrm>
            <a:off x="6724650" y="35052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Set target d ≈ ratio·T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6724650" y="41529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Find a nearby odd d coprime with φ(n)</a:t>
            </a:r>
            <a:endParaRPr sz="1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6724650" y="4800600"/>
            <a:ext cx="4438650" cy="523875"/>
          </a:xfrm>
          <a:prstGeom prst="roundRect">
            <a:avLst>
              <a:gd name="adj" fmla="val 14545"/>
            </a:avLst>
          </a:prstGeom>
          <a:solidFill>
            <a:srgbClr val="EAF1FA"/>
          </a:solidFill>
          <a:ln w="19050">
            <a:solidFill>
              <a:srgbClr val="356FC0"/>
            </a:solidFill>
            <a:prstDash val="solid"/>
          </a:ln>
        </p:spPr>
        <p:txBody>
          <a:bodyPr wrap="square" lIns="114300" tIns="47625" rIns="114300" bIns="47625" anchor="ctr">
            <a:noAutofit/>
          </a:bodyPr>
          <a:lstStyle>
            <a:def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90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Compute e = d⁻¹ mod φ(n), then verify RSA relations</a:t>
            </a:r>
            <a:endParaRPr sz="14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63040" y="5381625"/>
            <a:ext cx="356997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Normal RSA</a:t>
            </a:r>
            <a:r>
              <a:rPr lang="en-US"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: </a:t>
            </a:r>
            <a:r>
              <a:rPr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fixes e, then derives d.</a:t>
            </a:r>
            <a:endParaRPr sz="1575" b="1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887345" y="5972175"/>
            <a:ext cx="641731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Both satisfy RSA relations; the intended difference is the size of d.</a:t>
            </a:r>
            <a:endParaRPr sz="1575" b="1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932254" y="5381625"/>
            <a:ext cx="425962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Weak RSA</a:t>
            </a:r>
            <a:r>
              <a:rPr lang="en-US"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: </a:t>
            </a:r>
            <a:r>
              <a:rPr sz="1575" b="1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chooses a small d, then derives e. </a:t>
            </a:r>
            <a:endParaRPr lang="en-US" sz="1575" b="1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94045" y="1559560"/>
            <a:ext cx="80391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=</a:t>
            </a:r>
            <a:endParaRPr lang="en-US" altLang="zh-CN" sz="2800"/>
          </a:p>
        </p:txBody>
      </p:sp>
      <p:sp>
        <p:nvSpPr>
          <p:cNvPr id="31" name="文本框 30"/>
          <p:cNvSpPr txBox="1"/>
          <p:nvPr/>
        </p:nvSpPr>
        <p:spPr>
          <a:xfrm>
            <a:off x="5694045" y="2224405"/>
            <a:ext cx="80391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800"/>
              <a:t>=</a:t>
            </a:r>
            <a:endParaRPr lang="en-US" altLang="zh-CN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箭头连接符 16"/>
          <p:cNvCxnSpPr>
            <a:stCxn id="9" idx="1"/>
            <a:endCxn id="10" idx="3"/>
          </p:cNvCxnSpPr>
          <p:nvPr/>
        </p:nvCxnSpPr>
        <p:spPr>
          <a:xfrm flipH="1">
            <a:off x="3181350" y="4752975"/>
            <a:ext cx="323850" cy="0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6" name="直接箭头连接符 15"/>
          <p:cNvCxnSpPr>
            <a:stCxn id="8" idx="1"/>
            <a:endCxn id="9" idx="3"/>
          </p:cNvCxnSpPr>
          <p:nvPr/>
        </p:nvCxnSpPr>
        <p:spPr>
          <a:xfrm flipH="1">
            <a:off x="5981700" y="4752975"/>
            <a:ext cx="323850" cy="0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5" name="直接箭头连接符 14"/>
          <p:cNvCxnSpPr>
            <a:stCxn id="7" idx="1"/>
            <a:endCxn id="8" idx="3"/>
          </p:cNvCxnSpPr>
          <p:nvPr/>
        </p:nvCxnSpPr>
        <p:spPr>
          <a:xfrm flipH="1">
            <a:off x="8782050" y="4752975"/>
            <a:ext cx="323850" cy="0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4" name="直接箭头连接符 13"/>
          <p:cNvCxnSpPr>
            <a:stCxn id="6" idx="2"/>
            <a:endCxn id="7" idx="0"/>
          </p:cNvCxnSpPr>
          <p:nvPr/>
        </p:nvCxnSpPr>
        <p:spPr>
          <a:xfrm>
            <a:off x="10344150" y="3076575"/>
            <a:ext cx="0" cy="885825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3" name="直接箭头连接符 12"/>
          <p:cNvCxnSpPr>
            <a:stCxn id="5" idx="3"/>
            <a:endCxn id="6" idx="1"/>
          </p:cNvCxnSpPr>
          <p:nvPr/>
        </p:nvCxnSpPr>
        <p:spPr>
          <a:xfrm>
            <a:off x="8782050" y="2286000"/>
            <a:ext cx="323850" cy="0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2" name="直接箭头连接符 11"/>
          <p:cNvCxnSpPr>
            <a:stCxn id="4" idx="3"/>
            <a:endCxn id="5" idx="1"/>
          </p:cNvCxnSpPr>
          <p:nvPr/>
        </p:nvCxnSpPr>
        <p:spPr>
          <a:xfrm>
            <a:off x="5981700" y="2286000"/>
            <a:ext cx="323850" cy="0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cxnSp>
        <p:nvCxnSpPr>
          <p:cNvPr id="11" name="直接箭头连接符 10"/>
          <p:cNvCxnSpPr>
            <a:stCxn id="3" idx="3"/>
            <a:endCxn id="4" idx="1"/>
          </p:cNvCxnSpPr>
          <p:nvPr/>
        </p:nvCxnSpPr>
        <p:spPr>
          <a:xfrm>
            <a:off x="3181350" y="2286000"/>
            <a:ext cx="323850" cy="0"/>
          </a:xfrm>
          <a:prstGeom prst="straightConnector1">
            <a:avLst/>
          </a:prstGeom>
          <a:ln w="19050">
            <a:solidFill>
              <a:srgbClr val="356FC0"/>
            </a:solidFill>
            <a:prstDash val="solid"/>
            <a:tailEnd type="arrow" w="med" len="med"/>
          </a:ln>
        </p:spPr>
      </p:cxnSp>
      <p:sp>
        <p:nvSpPr>
          <p:cNvPr id="19" name="矩形 18"/>
          <p:cNvSpPr>
            <a:spLocks noGrp="1"/>
          </p:cNvSpPr>
          <p:nvPr/>
        </p:nvSpPr>
        <p:spPr>
          <a:xfrm>
            <a:off x="609600" y="361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Wiener Attack Candidate Recovery</a:t>
            </a:r>
            <a:endParaRPr sz="322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01350" y="64389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04 / 07</a:t>
            </a:r>
            <a:endParaRPr sz="10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: 圆角 2"/>
          <p:cNvSpPr>
            <a:spLocks noGrp="1"/>
          </p:cNvSpPr>
          <p:nvPr/>
        </p:nvSpPr>
        <p:spPr>
          <a:xfrm>
            <a:off x="704850" y="1495425"/>
            <a:ext cx="2476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Public input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e and n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True d, p, q and φ are unknown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3505200" y="1495425"/>
            <a:ext cx="2476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Expand e/n as a continued fraction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and generate convergents kᵢ/dᵢ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: 圆角 4"/>
          <p:cNvSpPr>
            <a:spLocks noGrp="1"/>
          </p:cNvSpPr>
          <p:nvPr/>
        </p:nvSpPr>
        <p:spPr>
          <a:xfrm>
            <a:off x="6305550" y="1495425"/>
            <a:ext cx="2476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Check each candidate</a:t>
            </a:r>
            <a:endParaRPr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kᵢ ≠ 0 and kᵢ | (edᵢ − 1)</a:t>
            </a:r>
            <a:endParaRPr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lang="en-US"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(check if </a:t>
            </a:r>
            <a:r>
              <a:rPr sz="1800" dirty="0">
                <a:sym typeface="+mn-ea"/>
              </a:rPr>
              <a:t>φᵢ</a:t>
            </a:r>
            <a:r>
              <a:rPr lang="en-US" sz="1800" dirty="0">
                <a:sym typeface="+mn-ea"/>
              </a:rPr>
              <a:t> is integer</a:t>
            </a:r>
            <a:r>
              <a:rPr lang="en-US"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)</a:t>
            </a:r>
            <a:endParaRPr lang="en-US"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: 圆角 5"/>
              <p:cNvSpPr>
                <a:spLocks noGrp="1"/>
              </p:cNvSpPr>
              <p:nvPr/>
            </p:nvSpPr>
            <p:spPr>
              <a:xfrm>
                <a:off x="9105900" y="1495425"/>
                <a:ext cx="2476500" cy="1581150"/>
              </a:xfrm>
              <a:prstGeom prst="roundRect">
                <a:avLst>
                  <a:gd name="adj" fmla="val 4819"/>
                </a:avLst>
              </a:prstGeom>
              <a:solidFill>
                <a:srgbClr val="FFFFFF"/>
              </a:solidFill>
              <a:ln w="13335">
                <a:solidFill>
                  <a:srgbClr val="CAD4DF"/>
                </a:solidFill>
                <a:prstDash val="solid"/>
              </a:ln>
            </p:spPr>
            <p:txBody>
              <a:bodyPr wrap="square" lIns="114300" tIns="47625" rIns="114300" bIns="47625" anchor="ctr">
                <a:normAutofit/>
              </a:bodyPr>
              <a:lstStyle>
                <a:def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Derive candidate φᵢ</a:t>
                </a:r>
                <a:endParaRPr sz="180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b="0" i="1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b="0" i="1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zh-CN" altLang="en-US" sz="1800" b="0" i="1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1800" b="0" i="0" dirty="0">
                          <a:solidFill>
                            <a:srgbClr val="15253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1800" b="0" i="0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b="0" i="0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𝑒</m:t>
                          </m:r>
                          <m:sSub>
                            <m:sSubPr>
                              <m:ctrlPr>
                                <a:rPr lang="zh-CN" altLang="en-US" sz="1800" b="0" i="0" dirty="0">
                                  <a:solidFill>
                                    <a:srgbClr val="1525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0" dirty="0">
                                  <a:solidFill>
                                    <a:srgbClr val="15253A"/>
                                  </a:solidFill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zh-CN" altLang="en-US" sz="1800" b="0" i="1" dirty="0">
                                  <a:solidFill>
                                    <a:srgbClr val="15253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1800" b="0" i="0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1800" b="0" i="0" dirty="0">
                              <a:solidFill>
                                <a:srgbClr val="15253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1800" b="0" i="1" dirty="0">
                                  <a:solidFill>
                                    <a:srgbClr val="1525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800" b="0" i="1" dirty="0">
                                  <a:solidFill>
                                    <a:srgbClr val="15253A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1800" b="0" i="1" dirty="0">
                                  <a:solidFill>
                                    <a:srgbClr val="15253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sz="180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800" b="0" dirty="0" err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p+q</a:t>
                </a:r>
                <a:r>
                  <a:rPr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=n−φᵢ+1</a:t>
                </a:r>
                <a:endParaRPr sz="180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6" name="矩形: 圆角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900" y="1495425"/>
                <a:ext cx="2476500" cy="1581150"/>
              </a:xfrm>
              <a:prstGeom prst="roundRect">
                <a:avLst>
                  <a:gd name="adj" fmla="val 4819"/>
                </a:avLst>
              </a:prstGeom>
              <a:blipFill rotWithShape="1">
                <a:blip r:embed="rId1"/>
                <a:stretch>
                  <a:fillRect l="-282" t="-442" r="-256" b="-402"/>
                </a:stretch>
              </a:blipFill>
              <a:ln w="13335">
                <a:solidFill>
                  <a:srgbClr val="CAD4D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/>
          <p:cNvSpPr>
            <a:spLocks noGrp="1"/>
          </p:cNvSpPr>
          <p:nvPr/>
        </p:nvSpPr>
        <p:spPr>
          <a:xfrm>
            <a:off x="9105900" y="3962400"/>
            <a:ext cx="2476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Build the quadratic</a:t>
            </a:r>
            <a:endParaRPr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(x−p)(x−q)=0</a:t>
            </a:r>
            <a:endParaRPr lang="en-US" altLang="zh-CN"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x²−(</a:t>
            </a:r>
            <a:r>
              <a:rPr sz="1800" b="0" dirty="0" err="1">
                <a:solidFill>
                  <a:srgbClr val="15253A"/>
                </a:solidFill>
                <a:latin typeface="Aptos"/>
                <a:ea typeface="Aptos"/>
                <a:cs typeface="Aptos"/>
              </a:rPr>
              <a:t>p+q</a:t>
            </a: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)</a:t>
            </a:r>
            <a:r>
              <a:rPr sz="1800" b="0" dirty="0" err="1">
                <a:solidFill>
                  <a:srgbClr val="15253A"/>
                </a:solidFill>
                <a:latin typeface="Aptos"/>
                <a:ea typeface="Aptos"/>
                <a:cs typeface="Aptos"/>
              </a:rPr>
              <a:t>x+n</a:t>
            </a: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=0</a:t>
            </a:r>
            <a:endParaRPr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Δ=(</a:t>
            </a:r>
            <a:r>
              <a:rPr sz="1800" b="0" dirty="0" err="1">
                <a:solidFill>
                  <a:srgbClr val="15253A"/>
                </a:solidFill>
                <a:latin typeface="Aptos"/>
                <a:ea typeface="Aptos"/>
                <a:cs typeface="Aptos"/>
              </a:rPr>
              <a:t>p+q</a:t>
            </a:r>
            <a:r>
              <a:rPr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)²−4n</a:t>
            </a:r>
            <a:r>
              <a:rPr lang="en-US"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=</a:t>
            </a:r>
            <a:r>
              <a:rPr lang="en-US" altLang="zh-CN" sz="180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(p-q)²</a:t>
            </a:r>
            <a:endParaRPr lang="en-US" altLang="zh-CN" sz="180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: 圆角 7"/>
              <p:cNvSpPr>
                <a:spLocks noGrp="1"/>
              </p:cNvSpPr>
              <p:nvPr/>
            </p:nvSpPr>
            <p:spPr>
              <a:xfrm>
                <a:off x="6305550" y="3962400"/>
                <a:ext cx="2476500" cy="1581150"/>
              </a:xfrm>
              <a:prstGeom prst="roundRect">
                <a:avLst>
                  <a:gd name="adj" fmla="val 4819"/>
                </a:avLst>
              </a:prstGeom>
              <a:solidFill>
                <a:srgbClr val="FFFFFF"/>
              </a:solidFill>
              <a:ln w="13335">
                <a:solidFill>
                  <a:srgbClr val="CAD4DF"/>
                </a:solidFill>
                <a:prstDash val="solid"/>
              </a:ln>
            </p:spPr>
            <p:txBody>
              <a:bodyPr wrap="square" lIns="114300" tIns="47625" rIns="114300" bIns="47625" anchor="ctr">
                <a:normAutofit/>
              </a:bodyPr>
              <a:lstStyle>
                <a:def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If</a:t>
                </a:r>
                <a:r>
                  <a:rPr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 Δ ≥ 0 and a perfect square</a:t>
                </a:r>
                <a:endParaRPr sz="180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altLang="zh-CN"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p=((p+q)+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800" b="0" i="1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  <a:ea typeface="Aptos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sz="1800" b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  <a:ea typeface="Aptos"/>
                            <a:cs typeface="Cambria Math" panose="02040503050406030204" pitchFamily="18" charset="0"/>
                          </a:rPr>
                          <m:t>Δ</m:t>
                        </m:r>
                      </m:e>
                    </m:rad>
                  </m:oMath>
                </a14:m>
                <a:r>
                  <a:rPr lang="en-US" altLang="zh-CN"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) / 2</a:t>
                </a:r>
                <a:endParaRPr lang="en-US" altLang="zh-CN" sz="180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  <a:p>
                <a:pPr algn="ctr">
                  <a:defRPr sz="1315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lang="en-US" altLang="zh-CN"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q=((p+q)−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800" b="0" i="1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  <a:ea typeface="Aptos"/>
                            <a:cs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sz="1800" b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  <a:ea typeface="Aptos"/>
                            <a:cs typeface="Cambria Math" panose="02040503050406030204" pitchFamily="18" charset="0"/>
                          </a:rPr>
                          <m:t>Δ</m:t>
                        </m:r>
                      </m:e>
                    </m:rad>
                  </m:oMath>
                </a14:m>
                <a:r>
                  <a:rPr lang="en-US" altLang="zh-CN" sz="180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) / 2</a:t>
                </a:r>
                <a:endParaRPr lang="en-US" altLang="zh-CN" sz="180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8" name="矩形: 圆角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50" y="3962400"/>
                <a:ext cx="2476500" cy="1581150"/>
              </a:xfrm>
              <a:prstGeom prst="roundRect">
                <a:avLst>
                  <a:gd name="adj" fmla="val 4819"/>
                </a:avLst>
              </a:prstGeom>
              <a:blipFill rotWithShape="1">
                <a:blip r:embed="rId2"/>
                <a:stretch>
                  <a:fillRect l="-282" t="-442" r="-256" b="-402"/>
                </a:stretch>
              </a:blipFill>
              <a:ln w="13335">
                <a:solidFill>
                  <a:srgbClr val="CAD4DF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: 圆角 8"/>
          <p:cNvSpPr>
            <a:spLocks noGrp="1"/>
          </p:cNvSpPr>
          <p:nvPr/>
        </p:nvSpPr>
        <p:spPr>
          <a:xfrm>
            <a:off x="3505200" y="3962400"/>
            <a:ext cx="2476500" cy="1581150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3335">
            <a:solidFill>
              <a:srgbClr val="CAD4DF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Recover p and q from the roots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Check p,q&gt;1, pq=n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and φᵢ=(p−1)(q−1)</a:t>
            </a:r>
            <a:endParaRPr sz="18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704850" y="3962400"/>
            <a:ext cx="2476500" cy="1581150"/>
          </a:xfrm>
          <a:prstGeom prst="roundRect">
            <a:avLst>
              <a:gd name="adj" fmla="val 4819"/>
            </a:avLst>
          </a:prstGeom>
          <a:solidFill>
            <a:srgbClr val="EAF1FA"/>
          </a:solidFill>
          <a:ln w="19050">
            <a:solidFill>
              <a:srgbClr val="356FC0"/>
            </a:solidFill>
            <a:prstDash val="solid"/>
          </a:ln>
        </p:spPr>
        <p:txBody>
          <a:bodyPr wrap="square" lIns="114300" tIns="47625" rIns="114300" bIns="47625" anchor="ctr">
            <a:normAutofit/>
          </a:bodyPr>
          <a:lstStyle>
            <a:def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Verify edᵢ mod φᵢ = 1</a:t>
            </a:r>
            <a:endParaRPr sz="18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Return dᵢ, p, q</a:t>
            </a:r>
            <a:endParaRPr sz="18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  <a:p>
            <a:pPr algn="ctr">
              <a:defRPr sz="131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Otherwise continue</a:t>
            </a:r>
            <a:endParaRPr sz="1800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5838825"/>
            <a:ext cx="1057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1425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5D6B7C"/>
                </a:solidFill>
                <a:latin typeface="Aptos"/>
                <a:ea typeface="Aptos"/>
                <a:cs typeface="Aptos"/>
              </a:rPr>
              <a:t>If any check fails, the algorithm continues with the next convergent</a:t>
            </a:r>
            <a:r>
              <a:rPr sz="1600" b="0" dirty="0">
                <a:solidFill>
                  <a:srgbClr val="5D6B7C"/>
                </a:solidFill>
                <a:latin typeface="Aptos"/>
                <a:ea typeface="Aptos"/>
                <a:cs typeface="Aptos"/>
              </a:rPr>
              <a:t>. The attack accepts only public e and n.</a:t>
            </a:r>
            <a:endParaRPr sz="1600" b="0" dirty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609600" y="361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Live Demo: 2048-bit Weak and Normal RSA</a:t>
            </a:r>
            <a:endParaRPr sz="322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01350" y="64389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05 / 07</a:t>
            </a:r>
            <a:endParaRPr sz="10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142875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56FC0"/>
                </a:solidFill>
                <a:latin typeface="Aptos"/>
                <a:ea typeface="Aptos"/>
                <a:cs typeface="Aptos"/>
              </a:rPr>
              <a:t>01</a:t>
            </a:r>
            <a:endParaRPr sz="2400" b="1">
              <a:solidFill>
                <a:srgbClr val="356F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47800" y="14287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Generate two 2048-bit RSA keys live: one weak and one normal</a:t>
            </a:r>
            <a:endParaRPr sz="2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38200" y="220980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56FC0"/>
                </a:solidFill>
                <a:latin typeface="Aptos"/>
                <a:ea typeface="Aptos"/>
                <a:cs typeface="Aptos"/>
              </a:rPr>
              <a:t>02</a:t>
            </a:r>
            <a:endParaRPr sz="2400" b="1">
              <a:solidFill>
                <a:srgbClr val="356F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47800" y="220980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Pass only the public values e and n to the attack</a:t>
            </a:r>
            <a:endParaRPr sz="2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8200" y="299085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56FC0"/>
                </a:solidFill>
                <a:latin typeface="Aptos"/>
                <a:ea typeface="Aptos"/>
                <a:cs typeface="Aptos"/>
              </a:rPr>
              <a:t>03</a:t>
            </a:r>
            <a:endParaRPr sz="2400" b="1">
              <a:solidFill>
                <a:srgbClr val="356F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447800" y="29908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Recover d, φ(n), p and q from the weak key, then verify decryption</a:t>
            </a:r>
            <a:endParaRPr sz="2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8200" y="3771900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1">
                <a:solidFill>
                  <a:srgbClr val="356FC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56FC0"/>
                </a:solidFill>
                <a:latin typeface="Aptos"/>
                <a:ea typeface="Aptos"/>
                <a:cs typeface="Aptos"/>
              </a:rPr>
              <a:t>04</a:t>
            </a:r>
            <a:endParaRPr sz="2400" b="1">
              <a:solidFill>
                <a:srgbClr val="356FC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447800" y="377190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80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15253A"/>
                </a:solidFill>
                <a:latin typeface="Aptos"/>
                <a:ea typeface="Aptos"/>
                <a:cs typeface="Aptos"/>
              </a:rPr>
              <a:t>Run the identical attack against the normal RSA key</a:t>
            </a:r>
            <a:endParaRPr sz="2400" b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09600" y="361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Experimental Results and Analysis</a:t>
            </a:r>
            <a:endParaRPr sz="322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01350" y="64389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06 / 07</a:t>
            </a:r>
            <a:endParaRPr sz="10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6080" y="1023620"/>
            <a:ext cx="5215890" cy="326009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353300" y="4532548"/>
            <a:ext cx="434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E3  ·  2048-bit key comparison</a:t>
            </a:r>
            <a:endParaRPr sz="14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7353300" y="4837348"/>
          <a:ext cx="4343400" cy="1047750"/>
        </p:xfrm>
        <a:graphic>
          <a:graphicData uri="http://schemas.openxmlformats.org/drawingml/2006/table">
            <a:tbl>
              <a:tblPr firstRow="1" bandRow="1"/>
              <a:tblGrid>
                <a:gridCol w="1276350"/>
                <a:gridCol w="1571625"/>
                <a:gridCol w="1495425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Key type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>
                      <a:solidFill>
                        <a:srgbClr val="CAD4DF"/>
                      </a:solidFill>
                      <a:prstDash val="soli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>
                      <a:solidFill>
                        <a:srgbClr val="CAD4DF"/>
                      </a:solidFill>
                      <a:prstDash val="soli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Median d/T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>
                      <a:solidFill>
                        <a:srgbClr val="CAD4DF"/>
                      </a:solidFill>
                      <a:prstDash val="soli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Recovered</a:t>
                      </a:r>
                      <a:endParaRPr sz="1200" b="1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>
                      <a:solidFill>
                        <a:srgbClr val="CAD4DF"/>
                      </a:solidFill>
                      <a:prstDash val="soli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102238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5253A"/>
                          </a:solidFill>
                          <a:latin typeface="Aptos"/>
                          <a:ea typeface="Aptos"/>
                          <a:cs typeface="Aptos"/>
                        </a:rPr>
                        <a:t>Weak RSA</a:t>
                      </a:r>
                      <a:endParaRPr sz="1275" b="0">
                        <a:solidFill>
                          <a:srgbClr val="15253A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>
                      <a:solidFill>
                        <a:srgbClr val="CAD4DF"/>
                      </a:solidFill>
                      <a:prstDash val="soli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5253A"/>
                          </a:solidFill>
                          <a:latin typeface="Aptos"/>
                          <a:ea typeface="Aptos"/>
                          <a:cs typeface="Aptos"/>
                        </a:rPr>
                        <a:t>0.75</a:t>
                      </a:r>
                      <a:endParaRPr sz="1275" b="0">
                        <a:solidFill>
                          <a:srgbClr val="15253A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5253A"/>
                          </a:solidFill>
                          <a:latin typeface="Aptos"/>
                          <a:ea typeface="Aptos"/>
                          <a:cs typeface="Aptos"/>
                        </a:rPr>
                        <a:t>30/30</a:t>
                      </a:r>
                      <a:endParaRPr sz="1275" b="1">
                        <a:solidFill>
                          <a:srgbClr val="15253A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F1F6FC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5253A"/>
                          </a:solidFill>
                          <a:latin typeface="Aptos"/>
                          <a:ea typeface="Aptos"/>
                          <a:cs typeface="Aptos"/>
                        </a:rPr>
                        <a:t>Normal RSA</a:t>
                      </a:r>
                      <a:endParaRPr sz="1275" b="0">
                        <a:solidFill>
                          <a:srgbClr val="15253A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>
                      <a:solidFill>
                        <a:srgbClr val="CAD4DF"/>
                      </a:solidFill>
                      <a:prstDash val="soli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5253A"/>
                          </a:solidFill>
                          <a:latin typeface="Aptos"/>
                          <a:ea typeface="Aptos"/>
                          <a:cs typeface="Aptos"/>
                        </a:rPr>
                        <a:t>2.578 × 10⁴⁶²</a:t>
                      </a:r>
                      <a:endParaRPr sz="1275" b="0">
                        <a:solidFill>
                          <a:srgbClr val="15253A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5253A"/>
                          </a:solidFill>
                          <a:latin typeface="Aptos"/>
                          <a:ea typeface="Aptos"/>
                          <a:cs typeface="Aptos"/>
                        </a:rPr>
                        <a:t>0/30</a:t>
                      </a:r>
                      <a:endParaRPr sz="1275" b="0">
                        <a:solidFill>
                          <a:srgbClr val="15253A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4DF"/>
                      </a:solidFill>
                      <a:prstDash val="solid"/>
                    </a:lnR>
                    <a:lnT w="9525" cap="flat" cmpd="sng" algn="ctr">
                      <a:solidFill>
                        <a:srgbClr val="CAD4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矩形 12"/>
          <p:cNvSpPr>
            <a:spLocks noGrp="1"/>
          </p:cNvSpPr>
          <p:nvPr/>
        </p:nvSpPr>
        <p:spPr>
          <a:xfrm>
            <a:off x="552450" y="62293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09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E1: </a:t>
            </a:r>
            <a:r>
              <a:rPr lang="en-US" sz="109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2048</a:t>
            </a:r>
            <a:r>
              <a:rPr sz="109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-bit n, 30 trials/group. E2: d/T=0.75; error bars show min to max. Attack timing excludes key generation.</a:t>
            </a:r>
            <a:endParaRPr sz="109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" name="图片 14" descr="wiener_success_vs_d_rat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1603375"/>
            <a:ext cx="6399530" cy="3999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609600" y="3619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322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Self-Implemented Core Functions</a:t>
            </a:r>
            <a:endParaRPr sz="322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01350" y="6438900"/>
            <a:ext cx="781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defPPr>
            <a:lvl1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1pPr>
            <a:lvl2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2pPr>
            <a:lvl3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3pPr>
            <a:lvl4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4pPr>
            <a:lvl5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5pPr>
            <a:lvl6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6pPr>
            <a:lvl7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7pPr>
            <a:lvl8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8pPr>
            <a:lvl9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lvl9pPr>
          </a:lstStyle>
          <a:p>
            <a:pPr algn="r">
              <a:defRPr sz="1050" b="0">
                <a:solidFill>
                  <a:srgbClr val="5D6B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C"/>
                </a:solidFill>
                <a:latin typeface="Aptos"/>
                <a:ea typeface="Aptos"/>
                <a:cs typeface="Aptos"/>
              </a:rPr>
              <a:t>07 / 07</a:t>
            </a:r>
            <a:endParaRPr sz="1050" b="0">
              <a:solidFill>
                <a:srgbClr val="5D6B7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118110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RSA parameter construction</a:t>
            </a:r>
            <a:endParaRPr sz="157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5621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generate_normal_rsa()</a:t>
            </a:r>
            <a:endParaRPr sz="14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819275"/>
            <a:ext cx="5048250" cy="3905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>
            <a:def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Fix e=65537; sample distinct </a:t>
            </a:r>
            <a:r>
              <a:rPr lang="en-US" sz="1350" b="0" dirty="0" err="1">
                <a:solidFill>
                  <a:srgbClr val="15253A"/>
                </a:solidFill>
                <a:latin typeface="Aptos"/>
                <a:ea typeface="Aptos"/>
                <a:cs typeface="Aptos"/>
              </a:rPr>
              <a:t>p,q</a:t>
            </a: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 and check n’s bit length; require </a:t>
            </a:r>
            <a:r>
              <a:rPr lang="en-US" sz="1350" b="0" dirty="0" err="1">
                <a:solidFill>
                  <a:srgbClr val="15253A"/>
                </a:solidFill>
                <a:latin typeface="Aptos"/>
                <a:ea typeface="Aptos"/>
                <a:cs typeface="Aptos"/>
              </a:rPr>
              <a:t>gcd</a:t>
            </a: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(e,</a:t>
            </a:r>
            <a:r>
              <a:rPr lang="el-GR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φ)=1, </a:t>
            </a: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then derive d=e⁻¹ mod </a:t>
            </a:r>
            <a:r>
              <a:rPr lang="el-GR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φ.</a:t>
            </a:r>
            <a:endParaRPr lang="el-GR" sz="135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219328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24569B"/>
                </a:solidFill>
                <a:latin typeface="Aptos"/>
                <a:ea typeface="Aptos"/>
                <a:cs typeface="Aptos"/>
              </a:rPr>
              <a:t>generate_weak_rsa</a:t>
            </a:r>
            <a:r>
              <a:rPr sz="1425" b="1" dirty="0">
                <a:solidFill>
                  <a:srgbClr val="24569B"/>
                </a:solidFill>
                <a:latin typeface="Aptos"/>
                <a:ea typeface="Aptos"/>
                <a:cs typeface="Aptos"/>
              </a:rPr>
              <a:t>()</a:t>
            </a:r>
            <a:endParaRPr sz="1425" b="1" dirty="0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>
                <a:spLocks noGrp="1"/>
              </p:cNvSpPr>
              <p:nvPr/>
            </p:nvSpPr>
            <p:spPr>
              <a:xfrm>
                <a:off x="723900" y="2437175"/>
                <a:ext cx="5048250" cy="3143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/>
              </a:bodyPr>
              <a:lstStyle>
                <a:def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Chooses a small d from target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350" b="0" i="1" dirty="0" smtClean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350" b="0" i="1" dirty="0" smtClean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zh-CN" altLang="en-US" sz="1350" b="0" i="1" dirty="0" smtClean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sz="135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, then derives </a:t>
                </a:r>
                <a:r>
                  <a:rPr lang="en-US" altLang="zh-CN" dirty="0"/>
                  <a:t>e=d⁻¹ mod </a:t>
                </a:r>
                <a:r>
                  <a:rPr lang="el-GR" altLang="zh-CN" dirty="0"/>
                  <a:t>φ.</a:t>
                </a:r>
                <a:r>
                  <a:rPr sz="135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.</a:t>
                </a:r>
                <a:endParaRPr sz="135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437175"/>
                <a:ext cx="5048250" cy="314325"/>
              </a:xfrm>
              <a:prstGeom prst="rect">
                <a:avLst/>
              </a:prstGeom>
              <a:blipFill rotWithShape="1">
                <a:blip r:embed="rId1"/>
                <a:stretch>
                  <a:fillRect t="-14" b="1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>
            <a:spLocks noGrp="1"/>
          </p:cNvSpPr>
          <p:nvPr/>
        </p:nvSpPr>
        <p:spPr>
          <a:xfrm>
            <a:off x="723900" y="27051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_nearest_odd_coprime()</a:t>
            </a:r>
            <a:endParaRPr sz="14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962275"/>
            <a:ext cx="5048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Searches near the target for a valid odd d coprime with φ.</a:t>
            </a: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dirty="0"/>
              <a:t>(</a:t>
            </a:r>
            <a:r>
              <a:rPr lang="en-US" altLang="zh-CN" dirty="0"/>
              <a:t>accept only 1&lt;d&lt;φ and </a:t>
            </a:r>
            <a:r>
              <a:rPr lang="en-US" altLang="zh-CN" dirty="0" err="1"/>
              <a:t>gcd</a:t>
            </a:r>
            <a:r>
              <a:rPr lang="en-US" altLang="zh-CN" dirty="0"/>
              <a:t>(</a:t>
            </a:r>
            <a:r>
              <a:rPr lang="en-US" altLang="zh-CN" dirty="0" err="1"/>
              <a:t>d,φ</a:t>
            </a:r>
            <a:r>
              <a:rPr lang="en-US" altLang="zh-CN" dirty="0"/>
              <a:t>)=1)</a:t>
            </a:r>
            <a:endParaRPr sz="135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54330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Wiener-bound checks</a:t>
            </a:r>
            <a:endParaRPr sz="157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39243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24569B"/>
                </a:solidFill>
                <a:latin typeface="Aptos"/>
                <a:ea typeface="Aptos"/>
                <a:cs typeface="Aptos"/>
              </a:rPr>
              <a:t>approximate_wiener_threshold</a:t>
            </a:r>
            <a:r>
              <a:rPr sz="1425" b="1" dirty="0">
                <a:solidFill>
                  <a:srgbClr val="24569B"/>
                </a:solidFill>
                <a:latin typeface="Aptos"/>
                <a:ea typeface="Aptos"/>
                <a:cs typeface="Aptos"/>
              </a:rPr>
              <a:t>()</a:t>
            </a:r>
            <a:endParaRPr sz="1425" b="1" dirty="0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>
                <a:spLocks noGrp="1"/>
              </p:cNvSpPr>
              <p:nvPr/>
            </p:nvSpPr>
            <p:spPr>
              <a:xfrm>
                <a:off x="723900" y="4102817"/>
                <a:ext cx="5048250" cy="571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rmAutofit fontScale="92500" lnSpcReduction="10000"/>
              </a:bodyPr>
              <a:lstStyle>
                <a:def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Uses two integer square roots to approximate</a:t>
                </a:r>
                <a:r>
                  <a:rPr lang="en-US" altLang="zh-CN" sz="1400" dirty="0">
                    <a:solidFill>
                      <a:srgbClr val="24569B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altLang="zh-CN" sz="1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ar-AE" sz="1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ar-AE" sz="1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f>
                              <m:fPr>
                                <m:ctrlPr>
                                  <a:rPr lang="zh-CN" altLang="ar-AE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ar-AE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zh-CN" altLang="ar-AE" sz="1400" b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zh-CN" altLang="ar-AE" sz="1400" b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endParaRPr lang="ar-AE" altLang="zh-CN" sz="1400" dirty="0">
                  <a:solidFill>
                    <a:srgbClr val="24569B"/>
                  </a:solidFill>
                </a:endParaRPr>
              </a:p>
              <a:p>
                <a:pPr algn="l">
                  <a:defRPr sz="1350" b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350" b="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.</a:t>
                </a:r>
                <a:endParaRPr sz="1350" b="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4102817"/>
                <a:ext cx="5048250" cy="571500"/>
              </a:xfrm>
              <a:prstGeom prst="rect">
                <a:avLst/>
              </a:prstGeom>
              <a:blipFill rotWithShape="1">
                <a:blip r:embed="rId2"/>
                <a:stretch>
                  <a:fillRect t="-1792" b="1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>
            <a:spLocks noGrp="1"/>
          </p:cNvSpPr>
          <p:nvPr/>
        </p:nvSpPr>
        <p:spPr>
          <a:xfrm>
            <a:off x="723900" y="44958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is_below_wiener_bound()</a:t>
            </a:r>
            <a:endParaRPr sz="14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4752975"/>
            <a:ext cx="5048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Tests the classical bound exactly with 81d⁴ &lt; n.</a:t>
            </a:r>
            <a:endParaRPr sz="135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19850" y="1181100"/>
            <a:ext cx="504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575" b="1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53A"/>
                </a:solidFill>
                <a:latin typeface="Aptos"/>
                <a:ea typeface="Aptos"/>
                <a:cs typeface="Aptos"/>
              </a:rPr>
              <a:t>Continued fractions and attack verification</a:t>
            </a:r>
            <a:endParaRPr sz="1575" b="1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19850" y="15621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continued_fraction()</a:t>
            </a:r>
            <a:endParaRPr sz="14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19850" y="1819275"/>
            <a:ext cx="5048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Computes continued-fraction coefficients by Euclidean division.</a:t>
            </a:r>
            <a:endParaRPr sz="135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19850" y="2173028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 dirty="0" err="1">
                <a:solidFill>
                  <a:srgbClr val="24569B"/>
                </a:solidFill>
                <a:latin typeface="Aptos"/>
                <a:ea typeface="Aptos"/>
                <a:cs typeface="Aptos"/>
              </a:rPr>
              <a:t>convergents</a:t>
            </a:r>
            <a:r>
              <a:rPr sz="1425" b="1" dirty="0">
                <a:solidFill>
                  <a:srgbClr val="24569B"/>
                </a:solidFill>
                <a:latin typeface="Aptos"/>
                <a:ea typeface="Aptos"/>
                <a:cs typeface="Aptos"/>
              </a:rPr>
              <a:t>()</a:t>
            </a:r>
            <a:endParaRPr sz="1425" b="1" dirty="0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419850" y="2430203"/>
            <a:ext cx="5048250" cy="7334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Evaluate each continued-fraction prefix to produce candidate k/d pairs for Wiener’s search.</a:t>
            </a:r>
            <a:endParaRPr lang="en-US" sz="135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19850" y="2971800"/>
            <a:ext cx="504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425" b="1">
                <a:solidFill>
                  <a:srgbClr val="24569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569B"/>
                </a:solidFill>
                <a:latin typeface="Aptos"/>
                <a:ea typeface="Aptos"/>
                <a:cs typeface="Aptos"/>
              </a:rPr>
              <a:t>wiener_attack()</a:t>
            </a:r>
            <a:endParaRPr sz="1425" b="1">
              <a:solidFill>
                <a:srgbClr val="24569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3228975"/>
            <a:ext cx="5048250" cy="7810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lvl9pPr>
          </a:lstStyle>
          <a:p>
            <a:pPr algn="l">
              <a:defRPr sz="1350" b="0">
                <a:solidFill>
                  <a:srgbClr val="15253A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Uses only e and n to search candidates</a:t>
            </a: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 (accept only public (</a:t>
            </a:r>
            <a:r>
              <a:rPr lang="en-US" sz="1350" b="0" dirty="0" err="1">
                <a:solidFill>
                  <a:srgbClr val="15253A"/>
                </a:solidFill>
                <a:latin typeface="Aptos"/>
                <a:ea typeface="Aptos"/>
                <a:cs typeface="Aptos"/>
              </a:rPr>
              <a:t>e,n</a:t>
            </a:r>
            <a:r>
              <a:rPr lang="en-US"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))</a:t>
            </a:r>
            <a:r>
              <a:rPr sz="1350" b="0" dirty="0">
                <a:solidFill>
                  <a:srgbClr val="15253A"/>
                </a:solidFill>
                <a:latin typeface="Aptos"/>
                <a:ea typeface="Aptos"/>
                <a:cs typeface="Aptos"/>
              </a:rPr>
              <a:t>, recover and verify d, p, q.</a:t>
            </a:r>
            <a:endParaRPr sz="1350" b="0" dirty="0">
              <a:solidFill>
                <a:srgbClr val="15253A"/>
              </a:solidFill>
              <a:latin typeface="Aptos"/>
              <a:ea typeface="Aptos"/>
              <a:cs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wiener-candidate-validation-detail"/>
              <p:cNvSpPr>
                <a:spLocks noGrp="1"/>
              </p:cNvSpPr>
              <p:nvPr/>
            </p:nvSpPr>
            <p:spPr>
              <a:xfrm>
                <a:off x="6419850" y="3625406"/>
                <a:ext cx="5048250" cy="11906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>
                <a:def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defPPr>
                <a:lvl1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1pPr>
                <a:lvl2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2pPr>
                <a:lvl3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3pPr>
                <a:lvl4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4pPr>
                <a:lvl5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5pPr>
                <a:lvl6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6pPr>
                <a:lvl7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7pPr>
                <a:lvl8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8pPr>
                <a:lvl9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lvl9pPr>
              </a:lstStyle>
              <a:p>
                <a:pPr algn="l">
                  <a:defRPr sz="124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24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Candidate checks: k≠0 and k|(ed−1); set </a:t>
                </a:r>
                <a14:m>
                  <m:oMath xmlns:m="http://schemas.openxmlformats.org/officeDocument/2006/math">
                    <m:r>
                      <a:rPr lang="zh-CN" altLang="en-US" sz="1240" i="1" dirty="0" smtClean="0">
                        <a:solidFill>
                          <a:srgbClr val="15253A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zh-CN" altLang="en-US" sz="1240" i="0" dirty="0">
                        <a:solidFill>
                          <a:srgbClr val="15253A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240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240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ⅇ</m:t>
                        </m:r>
                        <m:r>
                          <a:rPr lang="zh-CN" altLang="en-US" sz="1240" i="1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zh-CN" altLang="en-US" sz="1240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240" i="0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240" i="1" dirty="0">
                            <a:solidFill>
                              <a:srgbClr val="15253A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124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 and S=n−φ+1. Require Δ=S²−4n to be a nonnegative perfect square and S±√Δ to be even; recover </a:t>
                </a:r>
                <a:r>
                  <a:rPr sz="1240" dirty="0" err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p,q</a:t>
                </a:r>
                <a:r>
                  <a:rPr sz="124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, then verify </a:t>
                </a:r>
                <a:r>
                  <a:rPr sz="1240" dirty="0" err="1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pq</a:t>
                </a:r>
                <a:r>
                  <a:rPr sz="1240" dirty="0">
                    <a:solidFill>
                      <a:srgbClr val="15253A"/>
                    </a:solidFill>
                    <a:latin typeface="Aptos"/>
                    <a:ea typeface="Aptos"/>
                    <a:cs typeface="Aptos"/>
                  </a:rPr>
                  <a:t>=n, φ=(p−1)(q−1), and ed≡1 (mod φ).</a:t>
                </a:r>
                <a:endParaRPr sz="1240" dirty="0">
                  <a:solidFill>
                    <a:srgbClr val="15253A"/>
                  </a:solidFill>
                  <a:latin typeface="Aptos"/>
                  <a:ea typeface="Aptos"/>
                  <a:cs typeface="Aptos"/>
                </a:endParaRPr>
              </a:p>
            </p:txBody>
          </p:sp>
        </mc:Choice>
        <mc:Fallback>
          <p:sp>
            <p:nvSpPr>
              <p:cNvPr id="27" name="wiener-candidate-validation-detail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850" y="3625406"/>
                <a:ext cx="5048250" cy="1190625"/>
              </a:xfrm>
              <a:prstGeom prst="rect">
                <a:avLst/>
              </a:prstGeom>
              <a:blipFill rotWithShape="1">
                <a:blip r:embed="rId3"/>
                <a:stretch>
                  <a:fillRect t="-16" b="16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2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3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4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5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6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7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ags/tag8.xml><?xml version="1.0" encoding="utf-8"?>
<p:tagLst xmlns:p="http://schemas.openxmlformats.org/presentationml/2006/main">
  <p:tag name="KSO_WM_DIAGRAM_VIRTUALLY_FRAME" val="{&quot;height&quot;:223.5,&quot;left&quot;:66,&quot;top&quot;:112.5,&quot;width&quot;:820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3761</Words>
  <Application>WPS 演示</Application>
  <PresentationFormat>宽屏</PresentationFormat>
  <Paragraphs>214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Aptos</vt:lpstr>
      <vt:lpstr>Segoe UI</vt:lpstr>
      <vt:lpstr>Cambria Math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孜然</cp:lastModifiedBy>
  <cp:revision>37</cp:revision>
  <dcterms:created xsi:type="dcterms:W3CDTF">2026-10-18T02:55:00Z</dcterms:created>
  <dcterms:modified xsi:type="dcterms:W3CDTF">2026-10-19T05:54:38Z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9A0063CC029C4379A3B6A8FC2B08EAA5_12</vt:lpwstr>
  </property>
</Properties>
</file>